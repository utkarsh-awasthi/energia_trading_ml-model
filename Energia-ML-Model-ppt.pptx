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71" r:id="rId8"/>
    <p:sldId id="261" r:id="rId9"/>
    <p:sldId id="269" r:id="rId10"/>
    <p:sldId id="262" r:id="rId11"/>
    <p:sldId id="263" r:id="rId12"/>
    <p:sldId id="264" r:id="rId13"/>
    <p:sldId id="266" r:id="rId14"/>
    <p:sldId id="265" r:id="rId15"/>
    <p:sldId id="267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57233-BF10-DE41-1B31-5725AB7D2512}" v="32" dt="2026-02-17T18:20:10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 varScale="1">
        <p:scale>
          <a:sx n="114" d="100"/>
          <a:sy n="114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0CF86-4E6A-5847-A641-2E711A1B359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E3584-F625-BB48-B6BA-BD8493B67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E3584-F625-BB48-B6BA-BD8493B67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51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E3584-F625-BB48-B6BA-BD8493B67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2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4C8D-AAB8-5E29-5667-3FE06DFFC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4A7D8-27D5-3232-6D06-8B5349A1A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45372-018D-B7DA-99A1-8F3A6181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DEEC8-AE41-A017-4B66-317F0198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858A9-0E11-F5F5-0C5E-929C4792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5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15D7-A2DC-0CAB-4BE8-2F6999A3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286B-4F2C-8D08-EE16-3FA17B591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B7460-26EF-B12A-AF24-D883A73F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33EE-1103-24F6-DB50-75ECADC3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A5FB-040C-0420-A782-EB41D6AE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2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46F9-208C-E2CF-F12F-1FDD9BEE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DAE77-2BA2-229F-2A94-5BF8DFC0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D5759-FAE5-6A9C-D5BD-34A552C1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4F9D-86BD-FB5B-85CF-F4CF3416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D8AE1-DD5A-DC42-AB9E-D352261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0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0BF1-78A5-D639-22C6-CAB5F293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2C6AB-C7F3-E1FB-1869-851AEF959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A91D2-2DFA-FCA2-084F-69D96AA1A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1DABC-9743-86B3-13A0-47E8BAFC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56B6-B3ED-DE4D-710E-81836E08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AE96E-864E-1382-6FAB-41061FEA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6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AF19-6AB9-0129-DEB8-05954E056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85BB9-C908-0BB3-4154-F182FAB9B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12501-7A5C-A4F1-988E-B11244662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F1C99-EE96-6DCB-0A3A-86EA562BD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200A2-F5E7-64BA-F13E-AB3D295CA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9FC37-38C8-A1B1-888E-99FF47FD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038D70-2596-1E41-A1C9-C97454B3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BEAB5B-6BA8-C102-BF73-7E77C547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6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2A2F-C9C2-EA64-C875-F7D16A85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0A973-EA7E-C29C-4817-6E67B989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CB5D8-623F-31E8-3888-DA146C6A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4C4D9-F738-749B-79D5-F62FF18D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6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C9AE5-1F88-9019-FFA7-F9ECE983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DEFE1-D72D-CB5B-572D-24970635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C2861-4B92-A996-2253-60BBB110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0EFC-3E17-F126-7891-19F4EFA6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37B4-659E-9CA5-7C50-AEDDEE7BF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A8E7D-7494-B1D0-D7F3-06911390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206A6-0410-A1E6-168F-E5205B5C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AEC27-BA0B-B331-CA85-FC533C66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D15AA-F996-3AC1-F85A-949708B3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90CF-B5FF-B29F-8697-8D6535FE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E9-1477-6DF9-3D46-C50B015C8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CBAD8-682C-1EFB-5F38-AF9F5D168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1D70A-C60E-9513-2A6B-50435142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FFA8B-E080-8826-8B29-BDB19766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5FE0A-4121-0ECA-D2CE-1ED52042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5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CBF-7A49-1F22-4305-3E4D86A5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D1CBB-E34C-FDBC-09F5-545A8DB7E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3EDE-59D1-F6F0-C59D-FCAB6CDB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93485-DA98-3B62-098E-59907CCE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190D9-3BFE-5FBF-2D27-E4577BFB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9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3691F-5641-ED6A-BC7E-48924E1BD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380FD-C708-3468-427F-C97C24F16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A317F-7B28-AE83-7C9E-3D26E27F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01FCE-1E09-0D37-E2F2-B9EE55E9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B897-340A-42C7-240B-AFFF69B1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7DCC3-F893-F210-E5C6-E1285A92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7E966-8934-A10E-AF8B-30DB811FB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340E-FED6-4FF1-A6E4-AD62DAD13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7BC8E-3FBD-844A-A4F7-93C1BDDFBEA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3F0C6-5AF5-3D72-18AA-0CB7F361B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5868-1822-A851-E354-3CA63D316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18C1F-DE77-5D4C-B3A0-66391AFE8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8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4">
            <a:extLst>
              <a:ext uri="{FF2B5EF4-FFF2-40B4-BE49-F238E27FC236}">
                <a16:creationId xmlns:a16="http://schemas.microsoft.com/office/drawing/2014/main" id="{3B0B8C20-A455-2B80-A622-ECD75B678D46}"/>
              </a:ext>
            </a:extLst>
          </p:cNvPr>
          <p:cNvSpPr/>
          <p:nvPr/>
        </p:nvSpPr>
        <p:spPr>
          <a:xfrm>
            <a:off x="3123669" y="4648806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6C0477-B655-0065-3487-8FFB0C1E9408}"/>
              </a:ext>
            </a:extLst>
          </p:cNvPr>
          <p:cNvSpPr/>
          <p:nvPr/>
        </p:nvSpPr>
        <p:spPr>
          <a:xfrm>
            <a:off x="10636039" y="-1552297"/>
            <a:ext cx="3104594" cy="3104594"/>
          </a:xfrm>
          <a:custGeom>
            <a:avLst/>
            <a:gdLst/>
            <a:ahLst/>
            <a:cxnLst/>
            <a:rect l="l" t="t" r="r" b="b"/>
            <a:pathLst>
              <a:path w="3104594" h="3104594">
                <a:moveTo>
                  <a:pt x="1552297" y="0"/>
                </a:moveTo>
                <a:lnTo>
                  <a:pt x="1552297" y="0"/>
                </a:lnTo>
                <a:cubicBezTo>
                  <a:pt x="2409033" y="0"/>
                  <a:pt x="3104594" y="695561"/>
                  <a:pt x="3104594" y="1552297"/>
                </a:cubicBezTo>
                <a:lnTo>
                  <a:pt x="3104594" y="1552297"/>
                </a:lnTo>
                <a:cubicBezTo>
                  <a:pt x="3104594" y="2409033"/>
                  <a:pt x="2409033" y="3104594"/>
                  <a:pt x="1552297" y="3104594"/>
                </a:cubicBezTo>
                <a:lnTo>
                  <a:pt x="1552297" y="3104594"/>
                </a:lnTo>
                <a:cubicBezTo>
                  <a:pt x="695561" y="3104594"/>
                  <a:pt x="0" y="2409033"/>
                  <a:pt x="0" y="1552297"/>
                </a:cubicBezTo>
                <a:lnTo>
                  <a:pt x="0" y="1552297"/>
                </a:lnTo>
                <a:cubicBezTo>
                  <a:pt x="0" y="695561"/>
                  <a:pt x="695561" y="0"/>
                  <a:pt x="155229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29C816-ACBB-D2FB-053B-6C59D92E4361}"/>
              </a:ext>
            </a:extLst>
          </p:cNvPr>
          <p:cNvSpPr/>
          <p:nvPr/>
        </p:nvSpPr>
        <p:spPr>
          <a:xfrm>
            <a:off x="-1034865" y="5821114"/>
            <a:ext cx="2069729" cy="2069729"/>
          </a:xfrm>
          <a:custGeom>
            <a:avLst/>
            <a:gdLst/>
            <a:ahLst/>
            <a:cxnLst/>
            <a:rect l="l" t="t" r="r" b="b"/>
            <a:pathLst>
              <a:path w="2069729" h="2069729">
                <a:moveTo>
                  <a:pt x="1034865" y="0"/>
                </a:moveTo>
                <a:lnTo>
                  <a:pt x="1034865" y="0"/>
                </a:lnTo>
                <a:cubicBezTo>
                  <a:pt x="1606022" y="0"/>
                  <a:pt x="2069729" y="463707"/>
                  <a:pt x="2069729" y="1034865"/>
                </a:cubicBezTo>
                <a:lnTo>
                  <a:pt x="2069729" y="1034865"/>
                </a:lnTo>
                <a:cubicBezTo>
                  <a:pt x="2069729" y="1606022"/>
                  <a:pt x="1606022" y="2069729"/>
                  <a:pt x="1034865" y="2069729"/>
                </a:cubicBezTo>
                <a:lnTo>
                  <a:pt x="1034865" y="2069729"/>
                </a:lnTo>
                <a:cubicBezTo>
                  <a:pt x="463707" y="2069729"/>
                  <a:pt x="0" y="1606022"/>
                  <a:pt x="0" y="1034865"/>
                </a:cubicBezTo>
                <a:lnTo>
                  <a:pt x="0" y="1034865"/>
                </a:lnTo>
                <a:cubicBezTo>
                  <a:pt x="0" y="463707"/>
                  <a:pt x="463707" y="0"/>
                  <a:pt x="103486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3D28B68-EAA9-0DA7-4493-A50C713733C6}"/>
              </a:ext>
            </a:extLst>
          </p:cNvPr>
          <p:cNvSpPr/>
          <p:nvPr/>
        </p:nvSpPr>
        <p:spPr>
          <a:xfrm>
            <a:off x="323395" y="2215257"/>
            <a:ext cx="6443650" cy="121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2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Arbitrage Trading Strategy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382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Irish Energy Markets</a:t>
            </a:r>
            <a:endParaRPr lang="en-US" sz="160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AF34989-BA0E-D812-BFDF-38C2A1B114C1}"/>
              </a:ext>
            </a:extLst>
          </p:cNvPr>
          <p:cNvSpPr/>
          <p:nvPr/>
        </p:nvSpPr>
        <p:spPr>
          <a:xfrm>
            <a:off x="323395" y="3969676"/>
            <a:ext cx="5570483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>
                <a:solidFill>
                  <a:srgbClr val="E5E7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Optimizing Profit per MWh through Multi Market Price Arbitrage</a:t>
            </a:r>
            <a:endParaRPr lang="en-US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F64E2ED-6C66-0969-2F6E-1D1F7F2AAC7A}"/>
              </a:ext>
            </a:extLst>
          </p:cNvPr>
          <p:cNvSpPr/>
          <p:nvPr/>
        </p:nvSpPr>
        <p:spPr>
          <a:xfrm>
            <a:off x="323395" y="463263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A3132EE-D4DD-DE57-9CFA-FD0EB8BBFFD8}"/>
              </a:ext>
            </a:extLst>
          </p:cNvPr>
          <p:cNvSpPr/>
          <p:nvPr/>
        </p:nvSpPr>
        <p:spPr>
          <a:xfrm>
            <a:off x="808488" y="4616467"/>
            <a:ext cx="80848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 per MWh</a:t>
            </a:r>
            <a:endParaRPr lang="en-US" sz="16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AEDC261-9E3D-4464-F13C-B970342DDD8A}"/>
              </a:ext>
            </a:extLst>
          </p:cNvPr>
          <p:cNvSpPr/>
          <p:nvPr/>
        </p:nvSpPr>
        <p:spPr>
          <a:xfrm>
            <a:off x="808488" y="4778164"/>
            <a:ext cx="848912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€12.0</a:t>
            </a:r>
            <a:endParaRPr lang="en-US" sz="16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346D784-91F1-F4DC-EBED-F85272FAC48E}"/>
              </a:ext>
            </a:extLst>
          </p:cNvPr>
          <p:cNvSpPr/>
          <p:nvPr/>
        </p:nvSpPr>
        <p:spPr>
          <a:xfrm>
            <a:off x="1822004" y="463263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194037" y="0"/>
                </a:moveTo>
                <a:lnTo>
                  <a:pt x="194037" y="0"/>
                </a:lnTo>
                <a:cubicBezTo>
                  <a:pt x="301129" y="0"/>
                  <a:pt x="388074" y="86945"/>
                  <a:pt x="388074" y="194037"/>
                </a:cubicBezTo>
                <a:lnTo>
                  <a:pt x="388074" y="194037"/>
                </a:lnTo>
                <a:cubicBezTo>
                  <a:pt x="388074" y="301129"/>
                  <a:pt x="301129" y="388074"/>
                  <a:pt x="194037" y="388074"/>
                </a:cubicBezTo>
                <a:lnTo>
                  <a:pt x="194037" y="388074"/>
                </a:lnTo>
                <a:cubicBezTo>
                  <a:pt x="86945" y="388074"/>
                  <a:pt x="0" y="301129"/>
                  <a:pt x="0" y="194037"/>
                </a:cubicBezTo>
                <a:lnTo>
                  <a:pt x="0" y="194037"/>
                </a:lnTo>
                <a:cubicBezTo>
                  <a:pt x="0" y="86945"/>
                  <a:pt x="86945" y="0"/>
                  <a:pt x="194037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A70094B-86AA-7EE5-2A31-B2909430216E}"/>
              </a:ext>
            </a:extLst>
          </p:cNvPr>
          <p:cNvSpPr/>
          <p:nvPr/>
        </p:nvSpPr>
        <p:spPr>
          <a:xfrm>
            <a:off x="2307096" y="4616467"/>
            <a:ext cx="606366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497D0C2-6F80-3051-F180-F044006FE5C1}"/>
              </a:ext>
            </a:extLst>
          </p:cNvPr>
          <p:cNvSpPr/>
          <p:nvPr/>
        </p:nvSpPr>
        <p:spPr>
          <a:xfrm>
            <a:off x="2307096" y="4778164"/>
            <a:ext cx="646790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81.5%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F07A28-B37E-C337-06A7-F61F6EAB5AD7}"/>
              </a:ext>
            </a:extLst>
          </p:cNvPr>
          <p:cNvSpPr/>
          <p:nvPr/>
        </p:nvSpPr>
        <p:spPr>
          <a:xfrm>
            <a:off x="3229278" y="474582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30318"/>
                </a:moveTo>
                <a:lnTo>
                  <a:pt x="40424" y="25265"/>
                </a:lnTo>
                <a:cubicBezTo>
                  <a:pt x="40424" y="11306"/>
                  <a:pt x="67585" y="0"/>
                  <a:pt x="101061" y="0"/>
                </a:cubicBezTo>
                <a:cubicBezTo>
                  <a:pt x="134537" y="0"/>
                  <a:pt x="161698" y="11306"/>
                  <a:pt x="161698" y="25265"/>
                </a:cubicBezTo>
                <a:lnTo>
                  <a:pt x="161698" y="30318"/>
                </a:lnTo>
                <a:cubicBezTo>
                  <a:pt x="161698" y="39982"/>
                  <a:pt x="148654" y="48383"/>
                  <a:pt x="129484" y="52646"/>
                </a:cubicBezTo>
                <a:cubicBezTo>
                  <a:pt x="128726" y="51762"/>
                  <a:pt x="127937" y="50909"/>
                  <a:pt x="127147" y="50120"/>
                </a:cubicBezTo>
                <a:cubicBezTo>
                  <a:pt x="122252" y="45288"/>
                  <a:pt x="115936" y="41625"/>
                  <a:pt x="109335" y="38908"/>
                </a:cubicBezTo>
                <a:cubicBezTo>
                  <a:pt x="96103" y="33382"/>
                  <a:pt x="78859" y="30350"/>
                  <a:pt x="60637" y="30350"/>
                </a:cubicBezTo>
                <a:cubicBezTo>
                  <a:pt x="53720" y="30350"/>
                  <a:pt x="46962" y="30792"/>
                  <a:pt x="40488" y="31645"/>
                </a:cubicBezTo>
                <a:cubicBezTo>
                  <a:pt x="40424" y="31234"/>
                  <a:pt x="40424" y="30792"/>
                  <a:pt x="40424" y="30350"/>
                </a:cubicBezTo>
                <a:close/>
                <a:moveTo>
                  <a:pt x="136432" y="111483"/>
                </a:moveTo>
                <a:lnTo>
                  <a:pt x="136432" y="96892"/>
                </a:lnTo>
                <a:cubicBezTo>
                  <a:pt x="141201" y="95661"/>
                  <a:pt x="145686" y="94208"/>
                  <a:pt x="149760" y="92502"/>
                </a:cubicBezTo>
                <a:cubicBezTo>
                  <a:pt x="153929" y="90765"/>
                  <a:pt x="158003" y="88649"/>
                  <a:pt x="161698" y="86091"/>
                </a:cubicBezTo>
                <a:lnTo>
                  <a:pt x="161698" y="90955"/>
                </a:lnTo>
                <a:cubicBezTo>
                  <a:pt x="161698" y="99419"/>
                  <a:pt x="151749" y="106904"/>
                  <a:pt x="136432" y="111483"/>
                </a:cubicBezTo>
                <a:close/>
                <a:moveTo>
                  <a:pt x="136432" y="81165"/>
                </a:moveTo>
                <a:lnTo>
                  <a:pt x="136432" y="70743"/>
                </a:lnTo>
                <a:cubicBezTo>
                  <a:pt x="136432" y="69322"/>
                  <a:pt x="136306" y="67964"/>
                  <a:pt x="136117" y="66637"/>
                </a:cubicBezTo>
                <a:cubicBezTo>
                  <a:pt x="141012" y="65405"/>
                  <a:pt x="145591" y="63921"/>
                  <a:pt x="149760" y="62153"/>
                </a:cubicBezTo>
                <a:cubicBezTo>
                  <a:pt x="153929" y="60384"/>
                  <a:pt x="158003" y="58300"/>
                  <a:pt x="161698" y="55741"/>
                </a:cubicBezTo>
                <a:lnTo>
                  <a:pt x="161698" y="60605"/>
                </a:lnTo>
                <a:cubicBezTo>
                  <a:pt x="161698" y="69069"/>
                  <a:pt x="151749" y="76554"/>
                  <a:pt x="136432" y="81133"/>
                </a:cubicBezTo>
                <a:close/>
                <a:moveTo>
                  <a:pt x="0" y="75796"/>
                </a:moveTo>
                <a:lnTo>
                  <a:pt x="0" y="70743"/>
                </a:lnTo>
                <a:cubicBezTo>
                  <a:pt x="0" y="56784"/>
                  <a:pt x="27160" y="45477"/>
                  <a:pt x="60637" y="45477"/>
                </a:cubicBezTo>
                <a:cubicBezTo>
                  <a:pt x="94113" y="45477"/>
                  <a:pt x="121273" y="56784"/>
                  <a:pt x="121273" y="70743"/>
                </a:cubicBezTo>
                <a:lnTo>
                  <a:pt x="121273" y="75796"/>
                </a:lnTo>
                <a:cubicBezTo>
                  <a:pt x="121273" y="89755"/>
                  <a:pt x="94113" y="101061"/>
                  <a:pt x="60637" y="101061"/>
                </a:cubicBezTo>
                <a:cubicBezTo>
                  <a:pt x="27160" y="101061"/>
                  <a:pt x="0" y="89755"/>
                  <a:pt x="0" y="75796"/>
                </a:cubicBezTo>
                <a:close/>
                <a:moveTo>
                  <a:pt x="121273" y="106114"/>
                </a:moveTo>
                <a:cubicBezTo>
                  <a:pt x="121273" y="120073"/>
                  <a:pt x="94113" y="131379"/>
                  <a:pt x="60637" y="131379"/>
                </a:cubicBezTo>
                <a:cubicBezTo>
                  <a:pt x="27160" y="131379"/>
                  <a:pt x="0" y="120073"/>
                  <a:pt x="0" y="106114"/>
                </a:cubicBezTo>
                <a:lnTo>
                  <a:pt x="0" y="101250"/>
                </a:lnTo>
                <a:cubicBezTo>
                  <a:pt x="3663" y="103809"/>
                  <a:pt x="7737" y="105893"/>
                  <a:pt x="11938" y="107662"/>
                </a:cubicBezTo>
                <a:cubicBezTo>
                  <a:pt x="25171" y="113188"/>
                  <a:pt x="42414" y="116220"/>
                  <a:pt x="60637" y="116220"/>
                </a:cubicBezTo>
                <a:cubicBezTo>
                  <a:pt x="78859" y="116220"/>
                  <a:pt x="96103" y="113157"/>
                  <a:pt x="109335" y="107662"/>
                </a:cubicBezTo>
                <a:cubicBezTo>
                  <a:pt x="113504" y="105925"/>
                  <a:pt x="117578" y="103809"/>
                  <a:pt x="121273" y="101250"/>
                </a:cubicBezTo>
                <a:lnTo>
                  <a:pt x="121273" y="106114"/>
                </a:lnTo>
                <a:close/>
                <a:moveTo>
                  <a:pt x="121273" y="131569"/>
                </a:moveTo>
                <a:lnTo>
                  <a:pt x="121273" y="136432"/>
                </a:lnTo>
                <a:cubicBezTo>
                  <a:pt x="121273" y="150391"/>
                  <a:pt x="94113" y="161698"/>
                  <a:pt x="60637" y="161698"/>
                </a:cubicBezTo>
                <a:cubicBezTo>
                  <a:pt x="27160" y="161698"/>
                  <a:pt x="0" y="150391"/>
                  <a:pt x="0" y="136432"/>
                </a:cubicBezTo>
                <a:lnTo>
                  <a:pt x="0" y="131569"/>
                </a:lnTo>
                <a:cubicBezTo>
                  <a:pt x="3663" y="134127"/>
                  <a:pt x="7737" y="136211"/>
                  <a:pt x="11938" y="137980"/>
                </a:cubicBezTo>
                <a:cubicBezTo>
                  <a:pt x="25171" y="143507"/>
                  <a:pt x="42414" y="146538"/>
                  <a:pt x="60637" y="146538"/>
                </a:cubicBezTo>
                <a:cubicBezTo>
                  <a:pt x="78859" y="146538"/>
                  <a:pt x="96103" y="143475"/>
                  <a:pt x="109335" y="137980"/>
                </a:cubicBezTo>
                <a:cubicBezTo>
                  <a:pt x="113504" y="136243"/>
                  <a:pt x="117578" y="134127"/>
                  <a:pt x="121273" y="1315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D5C4A8-1D4B-3EDB-4146-A68D36C9D4DC}"/>
              </a:ext>
            </a:extLst>
          </p:cNvPr>
          <p:cNvSpPr/>
          <p:nvPr/>
        </p:nvSpPr>
        <p:spPr>
          <a:xfrm>
            <a:off x="3601183" y="4616467"/>
            <a:ext cx="905507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Profit</a:t>
            </a: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A9EDBE3-AC0F-2ADA-A86A-26B842E9FB4F}"/>
              </a:ext>
            </a:extLst>
          </p:cNvPr>
          <p:cNvSpPr/>
          <p:nvPr/>
        </p:nvSpPr>
        <p:spPr>
          <a:xfrm>
            <a:off x="3601183" y="4778164"/>
            <a:ext cx="945931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€139,403</a:t>
            </a:r>
            <a:endParaRPr lang="en-US" sz="16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03867393-CD3F-E869-6614-E813F3F6A881}"/>
              </a:ext>
            </a:extLst>
          </p:cNvPr>
          <p:cNvSpPr/>
          <p:nvPr/>
        </p:nvSpPr>
        <p:spPr>
          <a:xfrm>
            <a:off x="436584" y="474582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20212" y="14622"/>
                  <a:pt x="15696" y="10106"/>
                  <a:pt x="10106" y="10106"/>
                </a:cubicBezTo>
                <a:cubicBezTo>
                  <a:pt x="4516" y="10106"/>
                  <a:pt x="0" y="14622"/>
                  <a:pt x="0" y="20212"/>
                </a:cubicBezTo>
                <a:lnTo>
                  <a:pt x="0" y="126326"/>
                </a:lnTo>
                <a:cubicBezTo>
                  <a:pt x="0" y="140285"/>
                  <a:pt x="11306" y="151592"/>
                  <a:pt x="25265" y="151592"/>
                </a:cubicBezTo>
                <a:lnTo>
                  <a:pt x="151592" y="151592"/>
                </a:lnTo>
                <a:cubicBezTo>
                  <a:pt x="157181" y="151592"/>
                  <a:pt x="161698" y="147075"/>
                  <a:pt x="161698" y="141485"/>
                </a:cubicBezTo>
                <a:cubicBezTo>
                  <a:pt x="161698" y="135895"/>
                  <a:pt x="157181" y="131379"/>
                  <a:pt x="151592" y="131379"/>
                </a:cubicBezTo>
                <a:lnTo>
                  <a:pt x="25265" y="131379"/>
                </a:lnTo>
                <a:cubicBezTo>
                  <a:pt x="22486" y="131379"/>
                  <a:pt x="20212" y="129105"/>
                  <a:pt x="20212" y="126326"/>
                </a:cubicBezTo>
                <a:lnTo>
                  <a:pt x="20212" y="20212"/>
                </a:lnTo>
                <a:close/>
                <a:moveTo>
                  <a:pt x="148623" y="47562"/>
                </a:moveTo>
                <a:cubicBezTo>
                  <a:pt x="152571" y="43614"/>
                  <a:pt x="152571" y="37203"/>
                  <a:pt x="148623" y="33255"/>
                </a:cubicBezTo>
                <a:cubicBezTo>
                  <a:pt x="144675" y="29308"/>
                  <a:pt x="138264" y="29308"/>
                  <a:pt x="134316" y="33255"/>
                </a:cubicBezTo>
                <a:lnTo>
                  <a:pt x="101061" y="66542"/>
                </a:lnTo>
                <a:lnTo>
                  <a:pt x="82933" y="48446"/>
                </a:lnTo>
                <a:cubicBezTo>
                  <a:pt x="78985" y="44498"/>
                  <a:pt x="72574" y="44498"/>
                  <a:pt x="68627" y="48446"/>
                </a:cubicBezTo>
                <a:lnTo>
                  <a:pt x="38308" y="78764"/>
                </a:lnTo>
                <a:cubicBezTo>
                  <a:pt x="34361" y="82712"/>
                  <a:pt x="34361" y="89123"/>
                  <a:pt x="38308" y="93071"/>
                </a:cubicBezTo>
                <a:cubicBezTo>
                  <a:pt x="42256" y="97019"/>
                  <a:pt x="48667" y="97019"/>
                  <a:pt x="52615" y="93071"/>
                </a:cubicBezTo>
                <a:lnTo>
                  <a:pt x="75796" y="69890"/>
                </a:lnTo>
                <a:lnTo>
                  <a:pt x="93924" y="88018"/>
                </a:lnTo>
                <a:cubicBezTo>
                  <a:pt x="97871" y="91966"/>
                  <a:pt x="104282" y="91966"/>
                  <a:pt x="108230" y="88018"/>
                </a:cubicBezTo>
                <a:lnTo>
                  <a:pt x="148654" y="4759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C9DBCF69-D71A-EB6C-8AE4-3C925747FDEC}"/>
              </a:ext>
            </a:extLst>
          </p:cNvPr>
          <p:cNvSpPr/>
          <p:nvPr/>
        </p:nvSpPr>
        <p:spPr>
          <a:xfrm>
            <a:off x="1935192" y="474582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41485" y="80849"/>
                </a:moveTo>
                <a:cubicBezTo>
                  <a:pt x="141485" y="47383"/>
                  <a:pt x="114315" y="20212"/>
                  <a:pt x="80849" y="20212"/>
                </a:cubicBezTo>
                <a:cubicBezTo>
                  <a:pt x="47383" y="20212"/>
                  <a:pt x="20212" y="47383"/>
                  <a:pt x="20212" y="80849"/>
                </a:cubicBezTo>
                <a:cubicBezTo>
                  <a:pt x="20212" y="114315"/>
                  <a:pt x="47383" y="141485"/>
                  <a:pt x="80849" y="141485"/>
                </a:cubicBezTo>
                <a:cubicBezTo>
                  <a:pt x="114315" y="141485"/>
                  <a:pt x="141485" y="114315"/>
                  <a:pt x="141485" y="80849"/>
                </a:cubicBezTo>
                <a:close/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80849" y="106114"/>
                </a:moveTo>
                <a:cubicBezTo>
                  <a:pt x="94793" y="106114"/>
                  <a:pt x="106114" y="94793"/>
                  <a:pt x="106114" y="80849"/>
                </a:cubicBezTo>
                <a:cubicBezTo>
                  <a:pt x="106114" y="66905"/>
                  <a:pt x="94793" y="55584"/>
                  <a:pt x="80849" y="55584"/>
                </a:cubicBezTo>
                <a:cubicBezTo>
                  <a:pt x="66905" y="55584"/>
                  <a:pt x="55584" y="66905"/>
                  <a:pt x="55584" y="80849"/>
                </a:cubicBezTo>
                <a:cubicBezTo>
                  <a:pt x="55584" y="94793"/>
                  <a:pt x="66905" y="106114"/>
                  <a:pt x="80849" y="106114"/>
                </a:cubicBezTo>
                <a:close/>
                <a:moveTo>
                  <a:pt x="80849" y="35371"/>
                </a:moveTo>
                <a:cubicBezTo>
                  <a:pt x="105948" y="35371"/>
                  <a:pt x="126326" y="55749"/>
                  <a:pt x="126326" y="80849"/>
                </a:cubicBezTo>
                <a:cubicBezTo>
                  <a:pt x="126326" y="105948"/>
                  <a:pt x="105948" y="126326"/>
                  <a:pt x="80849" y="126326"/>
                </a:cubicBezTo>
                <a:cubicBezTo>
                  <a:pt x="55749" y="126326"/>
                  <a:pt x="35371" y="105948"/>
                  <a:pt x="35371" y="80849"/>
                </a:cubicBezTo>
                <a:cubicBezTo>
                  <a:pt x="35371" y="55749"/>
                  <a:pt x="55749" y="35371"/>
                  <a:pt x="80849" y="35371"/>
                </a:cubicBezTo>
                <a:close/>
                <a:moveTo>
                  <a:pt x="70743" y="80849"/>
                </a:moveTo>
                <a:cubicBezTo>
                  <a:pt x="70743" y="75271"/>
                  <a:pt x="75271" y="70743"/>
                  <a:pt x="80849" y="70743"/>
                </a:cubicBezTo>
                <a:cubicBezTo>
                  <a:pt x="86427" y="70743"/>
                  <a:pt x="90955" y="75271"/>
                  <a:pt x="90955" y="80849"/>
                </a:cubicBezTo>
                <a:cubicBezTo>
                  <a:pt x="90955" y="86427"/>
                  <a:pt x="86427" y="90955"/>
                  <a:pt x="80849" y="90955"/>
                </a:cubicBezTo>
                <a:cubicBezTo>
                  <a:pt x="75271" y="90955"/>
                  <a:pt x="70743" y="86427"/>
                  <a:pt x="70743" y="8084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70FE9C64-2559-1498-CF15-814A3780D285}"/>
              </a:ext>
            </a:extLst>
          </p:cNvPr>
          <p:cNvSpPr/>
          <p:nvPr/>
        </p:nvSpPr>
        <p:spPr>
          <a:xfrm>
            <a:off x="9022460" y="5577253"/>
            <a:ext cx="2711341" cy="1181202"/>
          </a:xfrm>
          <a:custGeom>
            <a:avLst/>
            <a:gdLst/>
            <a:ahLst/>
            <a:cxnLst/>
            <a:rect l="l" t="t" r="r" b="b"/>
            <a:pathLst>
              <a:path w="1983701" h="291056">
                <a:moveTo>
                  <a:pt x="0" y="0"/>
                </a:moveTo>
                <a:lnTo>
                  <a:pt x="1983701" y="0"/>
                </a:lnTo>
                <a:lnTo>
                  <a:pt x="1983701" y="291056"/>
                </a:lnTo>
                <a:lnTo>
                  <a:pt x="0" y="291056"/>
                </a:lnTo>
                <a:lnTo>
                  <a:pt x="0" y="0"/>
                </a:ln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4A983C7A-0DD2-05D2-FFE5-816B4D48396F}"/>
              </a:ext>
            </a:extLst>
          </p:cNvPr>
          <p:cNvSpPr/>
          <p:nvPr/>
        </p:nvSpPr>
        <p:spPr>
          <a:xfrm>
            <a:off x="9022460" y="5688517"/>
            <a:ext cx="1983701" cy="979912"/>
          </a:xfrm>
          <a:prstGeom prst="rect">
            <a:avLst/>
          </a:prstGeom>
          <a:noFill/>
          <a:ln/>
        </p:spPr>
        <p:txBody>
          <a:bodyPr wrap="square" lIns="129358" tIns="64679" rIns="129358" bIns="64679" rtlCol="0" anchor="ctr"/>
          <a:lstStyle/>
          <a:p>
            <a:pPr>
              <a:lnSpc>
                <a:spcPct val="120000"/>
              </a:lnSpc>
            </a:pPr>
            <a:r>
              <a:rPr lang="en-US" sz="850" b="1" kern="0" spc="45" dirty="0">
                <a:solidFill>
                  <a:srgbClr val="FFFFFF"/>
                </a:solidFill>
                <a:latin typeface="MiSans"/>
                <a:ea typeface="MiSans" pitchFamily="34" charset="-122"/>
                <a:cs typeface="MiSans" pitchFamily="34" charset="-120"/>
              </a:rPr>
              <a:t>Presented By-</a:t>
            </a:r>
          </a:p>
          <a:p>
            <a:pPr>
              <a:lnSpc>
                <a:spcPct val="120000"/>
              </a:lnSpc>
            </a:pPr>
            <a:r>
              <a:rPr lang="en-US" sz="850" b="1" kern="0" spc="45" dirty="0">
                <a:solidFill>
                  <a:srgbClr val="FFFFFF"/>
                </a:solidFill>
                <a:latin typeface="MiSans"/>
                <a:ea typeface="MiSans"/>
                <a:cs typeface="MiSans" pitchFamily="34" charset="-120"/>
              </a:rPr>
              <a:t>Utkarsh </a:t>
            </a:r>
            <a:endParaRPr lang="en-US" sz="850" dirty="0">
              <a:solidFill>
                <a:srgbClr val="000000"/>
              </a:solidFill>
              <a:latin typeface="MiSans"/>
              <a:ea typeface="MiSans"/>
              <a:cs typeface="Mi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009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5">
            <a:extLst>
              <a:ext uri="{FF2B5EF4-FFF2-40B4-BE49-F238E27FC236}">
                <a16:creationId xmlns:a16="http://schemas.microsoft.com/office/drawing/2014/main" id="{405BAA17-0FB7-56D0-58B4-997806E0AB77}"/>
              </a:ext>
            </a:extLst>
          </p:cNvPr>
          <p:cNvSpPr/>
          <p:nvPr/>
        </p:nvSpPr>
        <p:spPr>
          <a:xfrm>
            <a:off x="6210300" y="43691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169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US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C4AAEBC3-98AC-6DC7-F478-7CC3C96EB573}"/>
              </a:ext>
            </a:extLst>
          </p:cNvPr>
          <p:cNvSpPr/>
          <p:nvPr/>
        </p:nvSpPr>
        <p:spPr>
          <a:xfrm>
            <a:off x="6210300" y="50788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169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US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82261C21-8792-082F-8507-B5C5C4689754}"/>
              </a:ext>
            </a:extLst>
          </p:cNvPr>
          <p:cNvSpPr/>
          <p:nvPr/>
        </p:nvSpPr>
        <p:spPr>
          <a:xfrm>
            <a:off x="6182591" y="28813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169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US"/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89CB1192-F7EB-84F1-D62A-BDB6EFD598B7}"/>
              </a:ext>
            </a:extLst>
          </p:cNvPr>
          <p:cNvSpPr/>
          <p:nvPr/>
        </p:nvSpPr>
        <p:spPr>
          <a:xfrm>
            <a:off x="6182591" y="35910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A169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F859415-E527-57CF-F6C9-A384E98EF3D2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EXECUTIVE</a:t>
            </a:r>
            <a:r>
              <a:rPr lang="en-US" sz="1050" b="1" kern="0" spc="53">
                <a:solidFill>
                  <a:srgbClr val="FFC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C7B58B1-388E-C075-EAB1-09477CDBA0E3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Strategy at a Glance</a:t>
            </a:r>
            <a:endParaRPr lang="en-US" sz="16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9622BFF-68C7-0FE2-E31C-C16FBD517F8E}"/>
              </a:ext>
            </a:extLst>
          </p:cNvPr>
          <p:cNvSpPr/>
          <p:nvPr/>
        </p:nvSpPr>
        <p:spPr>
          <a:xfrm>
            <a:off x="381000" y="1257300"/>
            <a:ext cx="2743200" cy="1066800"/>
          </a:xfrm>
          <a:custGeom>
            <a:avLst/>
            <a:gdLst/>
            <a:ahLst/>
            <a:cxnLst/>
            <a:rect l="l" t="t" r="r" b="b"/>
            <a:pathLst>
              <a:path w="2743200" h="1066800">
                <a:moveTo>
                  <a:pt x="76202" y="0"/>
                </a:moveTo>
                <a:lnTo>
                  <a:pt x="2666998" y="0"/>
                </a:lnTo>
                <a:cubicBezTo>
                  <a:pt x="2709083" y="0"/>
                  <a:pt x="2743200" y="34117"/>
                  <a:pt x="2743200" y="76202"/>
                </a:cubicBezTo>
                <a:lnTo>
                  <a:pt x="2743200" y="990598"/>
                </a:lnTo>
                <a:cubicBezTo>
                  <a:pt x="2743200" y="1032683"/>
                  <a:pt x="2709083" y="1066800"/>
                  <a:pt x="2666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6B68A4C-0D4C-8925-EF54-514AFE6DC16D}"/>
              </a:ext>
            </a:extLst>
          </p:cNvPr>
          <p:cNvSpPr/>
          <p:nvPr/>
        </p:nvSpPr>
        <p:spPr>
          <a:xfrm>
            <a:off x="533400" y="14097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 Strategy</a:t>
            </a:r>
            <a:endParaRPr lang="en-US" sz="16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4122C3D-7387-C769-1BF9-20E21C32D60D}"/>
              </a:ext>
            </a:extLst>
          </p:cNvPr>
          <p:cNvSpPr/>
          <p:nvPr/>
        </p:nvSpPr>
        <p:spPr>
          <a:xfrm>
            <a:off x="533400" y="16383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DAM-IDA1</a:t>
            </a:r>
            <a:endParaRPr lang="en-US" sz="16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367E0BE-B7BE-C91B-A20B-0368BC8EE3C9}"/>
              </a:ext>
            </a:extLst>
          </p:cNvPr>
          <p:cNvSpPr/>
          <p:nvPr/>
        </p:nvSpPr>
        <p:spPr>
          <a:xfrm>
            <a:off x="533400" y="19812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Arbitrage Trading</a:t>
            </a:r>
            <a:endParaRPr lang="en-US" sz="16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B702946-5559-3DF0-4AD7-52DD6DE81033}"/>
              </a:ext>
            </a:extLst>
          </p:cNvPr>
          <p:cNvSpPr/>
          <p:nvPr/>
        </p:nvSpPr>
        <p:spPr>
          <a:xfrm>
            <a:off x="3276600" y="1257300"/>
            <a:ext cx="2743200" cy="1066800"/>
          </a:xfrm>
          <a:custGeom>
            <a:avLst/>
            <a:gdLst/>
            <a:ahLst/>
            <a:cxnLst/>
            <a:rect l="l" t="t" r="r" b="b"/>
            <a:pathLst>
              <a:path w="2743200" h="1066800">
                <a:moveTo>
                  <a:pt x="76202" y="0"/>
                </a:moveTo>
                <a:lnTo>
                  <a:pt x="2666998" y="0"/>
                </a:lnTo>
                <a:cubicBezTo>
                  <a:pt x="2709083" y="0"/>
                  <a:pt x="2743200" y="34117"/>
                  <a:pt x="2743200" y="76202"/>
                </a:cubicBezTo>
                <a:lnTo>
                  <a:pt x="2743200" y="990598"/>
                </a:lnTo>
                <a:cubicBezTo>
                  <a:pt x="2743200" y="1032683"/>
                  <a:pt x="2709083" y="1066800"/>
                  <a:pt x="2666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D649A5A-36AE-75C9-982D-C3DFF08E16CE}"/>
              </a:ext>
            </a:extLst>
          </p:cNvPr>
          <p:cNvSpPr/>
          <p:nvPr/>
        </p:nvSpPr>
        <p:spPr>
          <a:xfrm>
            <a:off x="3429000" y="14097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Profit/MWh</a:t>
            </a:r>
            <a:endParaRPr lang="en-US" sz="16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33F7026-9CBA-8562-88FB-45AC7F65A855}"/>
              </a:ext>
            </a:extLst>
          </p:cNvPr>
          <p:cNvSpPr/>
          <p:nvPr/>
        </p:nvSpPr>
        <p:spPr>
          <a:xfrm>
            <a:off x="3429000" y="16383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€12.0</a:t>
            </a:r>
            <a:endParaRPr lang="en-US" sz="16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1218561-7978-D721-C5CF-C459AE71A497}"/>
              </a:ext>
            </a:extLst>
          </p:cNvPr>
          <p:cNvSpPr/>
          <p:nvPr/>
        </p:nvSpPr>
        <p:spPr>
          <a:xfrm>
            <a:off x="3429000" y="19812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11,656 Trades</a:t>
            </a:r>
            <a:endParaRPr lang="en-US" sz="16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C6D8046-4181-530C-D99C-7204074ED7AE}"/>
              </a:ext>
            </a:extLst>
          </p:cNvPr>
          <p:cNvSpPr/>
          <p:nvPr/>
        </p:nvSpPr>
        <p:spPr>
          <a:xfrm>
            <a:off x="6172200" y="1257300"/>
            <a:ext cx="2743200" cy="1066800"/>
          </a:xfrm>
          <a:custGeom>
            <a:avLst/>
            <a:gdLst/>
            <a:ahLst/>
            <a:cxnLst/>
            <a:rect l="l" t="t" r="r" b="b"/>
            <a:pathLst>
              <a:path w="2743200" h="1066800">
                <a:moveTo>
                  <a:pt x="76202" y="0"/>
                </a:moveTo>
                <a:lnTo>
                  <a:pt x="2666998" y="0"/>
                </a:lnTo>
                <a:cubicBezTo>
                  <a:pt x="2709083" y="0"/>
                  <a:pt x="2743200" y="34117"/>
                  <a:pt x="2743200" y="76202"/>
                </a:cubicBezTo>
                <a:lnTo>
                  <a:pt x="2743200" y="990598"/>
                </a:lnTo>
                <a:cubicBezTo>
                  <a:pt x="2743200" y="1032683"/>
                  <a:pt x="2709083" y="1066800"/>
                  <a:pt x="2666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BEE4B4A-922F-730A-BC25-E5B19594C88A}"/>
              </a:ext>
            </a:extLst>
          </p:cNvPr>
          <p:cNvSpPr/>
          <p:nvPr/>
        </p:nvSpPr>
        <p:spPr>
          <a:xfrm>
            <a:off x="6324600" y="14097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Accuracy</a:t>
            </a:r>
            <a:endParaRPr lang="en-US" sz="16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B9DBAE6-499B-C7AD-513B-C71667C51BE1}"/>
              </a:ext>
            </a:extLst>
          </p:cNvPr>
          <p:cNvSpPr/>
          <p:nvPr/>
        </p:nvSpPr>
        <p:spPr>
          <a:xfrm>
            <a:off x="6324600" y="16383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81.5%</a:t>
            </a:r>
            <a:endParaRPr lang="en-US" sz="16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C35DB82-7382-9E7E-5290-691AA8DF017E}"/>
              </a:ext>
            </a:extLst>
          </p:cNvPr>
          <p:cNvSpPr/>
          <p:nvPr/>
        </p:nvSpPr>
        <p:spPr>
          <a:xfrm>
            <a:off x="6324600" y="19812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HistGradientBoosting</a:t>
            </a:r>
            <a:endParaRPr lang="en-US" sz="16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5B9742B-51B5-24B1-9737-E76545FD8202}"/>
              </a:ext>
            </a:extLst>
          </p:cNvPr>
          <p:cNvSpPr/>
          <p:nvPr/>
        </p:nvSpPr>
        <p:spPr>
          <a:xfrm>
            <a:off x="9067800" y="1257300"/>
            <a:ext cx="2743200" cy="1066800"/>
          </a:xfrm>
          <a:custGeom>
            <a:avLst/>
            <a:gdLst/>
            <a:ahLst/>
            <a:cxnLst/>
            <a:rect l="l" t="t" r="r" b="b"/>
            <a:pathLst>
              <a:path w="2743200" h="1066800">
                <a:moveTo>
                  <a:pt x="76202" y="0"/>
                </a:moveTo>
                <a:lnTo>
                  <a:pt x="2666998" y="0"/>
                </a:lnTo>
                <a:cubicBezTo>
                  <a:pt x="2709083" y="0"/>
                  <a:pt x="2743200" y="34117"/>
                  <a:pt x="2743200" y="76202"/>
                </a:cubicBezTo>
                <a:lnTo>
                  <a:pt x="2743200" y="990598"/>
                </a:lnTo>
                <a:cubicBezTo>
                  <a:pt x="2743200" y="1032683"/>
                  <a:pt x="2709083" y="1066800"/>
                  <a:pt x="26669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E456367-1799-8A29-9E47-03A75572E1E6}"/>
              </a:ext>
            </a:extLst>
          </p:cNvPr>
          <p:cNvSpPr/>
          <p:nvPr/>
        </p:nvSpPr>
        <p:spPr>
          <a:xfrm>
            <a:off x="9220200" y="14097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Return</a:t>
            </a:r>
            <a:endParaRPr lang="en-US" sz="16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0D62F98-FC55-7A76-0A68-0382C2F7D814}"/>
              </a:ext>
            </a:extLst>
          </p:cNvPr>
          <p:cNvSpPr/>
          <p:nvPr/>
        </p:nvSpPr>
        <p:spPr>
          <a:xfrm>
            <a:off x="9220200" y="16383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€139,403</a:t>
            </a:r>
            <a:endParaRPr lang="en-US" sz="16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B90664D-AF45-B6C5-AD6B-4E0D1F5A8882}"/>
              </a:ext>
            </a:extLst>
          </p:cNvPr>
          <p:cNvSpPr/>
          <p:nvPr/>
        </p:nvSpPr>
        <p:spPr>
          <a:xfrm>
            <a:off x="9220200" y="19812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Period</a:t>
            </a:r>
            <a:endParaRPr lang="en-US" sz="16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C4F74B6-7D65-CCD3-3F6B-84BA7B5975C7}"/>
              </a:ext>
            </a:extLst>
          </p:cNvPr>
          <p:cNvSpPr/>
          <p:nvPr/>
        </p:nvSpPr>
        <p:spPr>
          <a:xfrm>
            <a:off x="381000" y="2552700"/>
            <a:ext cx="569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Problem</a:t>
            </a:r>
            <a:endParaRPr lang="en-US" sz="16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DB03600-4FD6-BD40-1D42-7BFD3646BFC3}"/>
              </a:ext>
            </a:extLst>
          </p:cNvPr>
          <p:cNvSpPr/>
          <p:nvPr/>
        </p:nvSpPr>
        <p:spPr>
          <a:xfrm>
            <a:off x="381000" y="2971800"/>
            <a:ext cx="5676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Electricity in Ireland is traded across </a:t>
            </a:r>
            <a:r>
              <a:rPr lang="en-US" sz="120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 sequential markets</a:t>
            </a: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(DAM, IDA1, IDA2, IDA3) before final settlement in the Balancing Market (BM). Price spreads between these markets represent </a:t>
            </a:r>
            <a:r>
              <a:rPr lang="en-US" sz="1200">
                <a:solidFill>
                  <a:srgbClr val="38A1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arbitrage opportunities</a:t>
            </a: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but predicting spread direction requires cutting through significant noise.</a:t>
            </a:r>
            <a:endParaRPr lang="en-US" sz="16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7E86CE80-F99B-8419-898E-19F348FCEFC9}"/>
              </a:ext>
            </a:extLst>
          </p:cNvPr>
          <p:cNvSpPr/>
          <p:nvPr/>
        </p:nvSpPr>
        <p:spPr>
          <a:xfrm>
            <a:off x="400050" y="4114800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66796"/>
                </a:lnTo>
                <a:cubicBezTo>
                  <a:pt x="5581650" y="1108882"/>
                  <a:pt x="5547532" y="1143000"/>
                  <a:pt x="55054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5F0676E-E2CA-A844-CB78-9BAC85CAE694}"/>
              </a:ext>
            </a:extLst>
          </p:cNvPr>
          <p:cNvSpPr/>
          <p:nvPr/>
        </p:nvSpPr>
        <p:spPr>
          <a:xfrm>
            <a:off x="571500" y="42672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Challenge</a:t>
            </a:r>
            <a:endParaRPr lang="en-US" sz="16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74DF8B4-B1EE-1433-609F-E57C857A6312}"/>
              </a:ext>
            </a:extLst>
          </p:cNvPr>
          <p:cNvSpPr/>
          <p:nvPr/>
        </p:nvSpPr>
        <p:spPr>
          <a:xfrm>
            <a:off x="571500" y="4533900"/>
            <a:ext cx="5324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build a classification model that predicts whether the spread between markets will be positive or negative, executing trades that </a:t>
            </a:r>
            <a:r>
              <a:rPr lang="en-US" sz="1050" err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maximise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profit per MWh while </a:t>
            </a:r>
            <a:r>
              <a:rPr lang="en-US" sz="1050" err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minimising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risk exposure.</a:t>
            </a:r>
            <a:endParaRPr lang="en-US" sz="16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B1E8B2F-2D37-69EB-E112-EE976072392A}"/>
              </a:ext>
            </a:extLst>
          </p:cNvPr>
          <p:cNvSpPr/>
          <p:nvPr/>
        </p:nvSpPr>
        <p:spPr>
          <a:xfrm>
            <a:off x="6210300" y="2552700"/>
            <a:ext cx="569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Insights</a:t>
            </a:r>
            <a:endParaRPr lang="en-US"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31BCF4-63CE-F9B1-CE4B-C82306029669}"/>
              </a:ext>
            </a:extLst>
          </p:cNvPr>
          <p:cNvSpPr/>
          <p:nvPr/>
        </p:nvSpPr>
        <p:spPr>
          <a:xfrm>
            <a:off x="6157912" y="286952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1744429-34F0-9FF3-9EDE-991BFD7E0A4D}"/>
              </a:ext>
            </a:extLst>
          </p:cNvPr>
          <p:cNvSpPr/>
          <p:nvPr/>
        </p:nvSpPr>
        <p:spPr>
          <a:xfrm>
            <a:off x="6615113" y="28575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Optimal Market Pair</a:t>
            </a:r>
            <a:endParaRPr lang="en-US"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88C4456-33A2-640B-34A1-BBA280D6923B}"/>
              </a:ext>
            </a:extLst>
          </p:cNvPr>
          <p:cNvSpPr/>
          <p:nvPr/>
        </p:nvSpPr>
        <p:spPr>
          <a:xfrm>
            <a:off x="6629400" y="3200400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DAM-IDA1 delivers highest accuracy (81.5%) with strong profit (€12.0/MWh)</a:t>
            </a:r>
            <a:endParaRPr lang="en-US" sz="160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E4847C4A-38A1-DBC3-CAB8-D87AC68C801F}"/>
              </a:ext>
            </a:extLst>
          </p:cNvPr>
          <p:cNvSpPr/>
          <p:nvPr/>
        </p:nvSpPr>
        <p:spPr>
          <a:xfrm>
            <a:off x="6151273" y="356735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2194052-AC08-DCF1-8303-0C306C34AB14}"/>
              </a:ext>
            </a:extLst>
          </p:cNvPr>
          <p:cNvSpPr/>
          <p:nvPr/>
        </p:nvSpPr>
        <p:spPr>
          <a:xfrm>
            <a:off x="6601251" y="3584528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Time-of-Day Patterns</a:t>
            </a:r>
            <a:endParaRPr lang="en-US" sz="160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ACA13657-C26E-1C67-8DFE-4440B92AF13C}"/>
              </a:ext>
            </a:extLst>
          </p:cNvPr>
          <p:cNvSpPr/>
          <p:nvPr/>
        </p:nvSpPr>
        <p:spPr>
          <a:xfrm>
            <a:off x="6629400" y="3911506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Evening hours (19-23h) show peak profitability; avoid hours 6, 11-14, 16</a:t>
            </a:r>
            <a:endParaRPr lang="en-US" sz="160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6E906917-4BF7-2C08-459D-E87EDB7157FD}"/>
              </a:ext>
            </a:extLst>
          </p:cNvPr>
          <p:cNvSpPr/>
          <p:nvPr/>
        </p:nvSpPr>
        <p:spPr>
          <a:xfrm>
            <a:off x="6178983" y="43624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B3AAE7DD-1502-077A-E8DC-BAA126E9941A}"/>
              </a:ext>
            </a:extLst>
          </p:cNvPr>
          <p:cNvSpPr/>
          <p:nvPr/>
        </p:nvSpPr>
        <p:spPr>
          <a:xfrm>
            <a:off x="6629400" y="4327478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Threshold Optimization</a:t>
            </a:r>
            <a:endParaRPr lang="en-US" sz="160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927D943C-F4F1-64AE-384E-0A02AC91368E}"/>
              </a:ext>
            </a:extLst>
          </p:cNvPr>
          <p:cNvSpPr/>
          <p:nvPr/>
        </p:nvSpPr>
        <p:spPr>
          <a:xfrm>
            <a:off x="6634162" y="4648970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€50 threshold optimal for DAM-BM, €1 threshold for DAM-IDA1</a:t>
            </a:r>
            <a:endParaRPr lang="en-US" sz="1600"/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9C42FAC2-70D9-A491-1321-F4D033DD6B17}"/>
              </a:ext>
            </a:extLst>
          </p:cNvPr>
          <p:cNvSpPr/>
          <p:nvPr/>
        </p:nvSpPr>
        <p:spPr>
          <a:xfrm>
            <a:off x="6178983" y="50788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07E9E441-0DF1-D6A3-C83F-E25E1516703F}"/>
              </a:ext>
            </a:extLst>
          </p:cNvPr>
          <p:cNvSpPr/>
          <p:nvPr/>
        </p:nvSpPr>
        <p:spPr>
          <a:xfrm>
            <a:off x="6629400" y="5043535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Selection</a:t>
            </a:r>
            <a:endParaRPr lang="en-US" sz="1600"/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42BE59BE-9F9B-5430-40BC-E53047C398EC}"/>
              </a:ext>
            </a:extLst>
          </p:cNvPr>
          <p:cNvSpPr/>
          <p:nvPr/>
        </p:nvSpPr>
        <p:spPr>
          <a:xfrm>
            <a:off x="6638925" y="5369898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HistGradientBoosting outperforms Logistic Regression, Random Forest, and LightGBM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6109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7">
            <a:extLst>
              <a:ext uri="{FF2B5EF4-FFF2-40B4-BE49-F238E27FC236}">
                <a16:creationId xmlns:a16="http://schemas.microsoft.com/office/drawing/2014/main" id="{66BE7332-F90B-5651-465E-93CB6FD65A88}"/>
              </a:ext>
            </a:extLst>
          </p:cNvPr>
          <p:cNvSpPr/>
          <p:nvPr/>
        </p:nvSpPr>
        <p:spPr>
          <a:xfrm>
            <a:off x="5013871" y="12192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76205" y="0"/>
                </a:moveTo>
                <a:lnTo>
                  <a:pt x="2085970" y="0"/>
                </a:lnTo>
                <a:cubicBezTo>
                  <a:pt x="2128057" y="0"/>
                  <a:pt x="2162175" y="34118"/>
                  <a:pt x="2162175" y="76205"/>
                </a:cubicBezTo>
                <a:lnTo>
                  <a:pt x="2162175" y="1028695"/>
                </a:lnTo>
                <a:cubicBezTo>
                  <a:pt x="2162175" y="1070782"/>
                  <a:pt x="2128057" y="1104900"/>
                  <a:pt x="20859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DDD6BD2-0EB8-74F1-DB47-832E29571129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STATEMENT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841DE3-F54A-9D4F-ACEC-8DDB05ABA414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Multi-Market Price Arbitrage</a:t>
            </a:r>
            <a:endParaRPr lang="en-US" sz="16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31741BA-6CAC-CE87-D939-9B9428E2CC93}"/>
              </a:ext>
            </a:extLst>
          </p:cNvPr>
          <p:cNvSpPr/>
          <p:nvPr/>
        </p:nvSpPr>
        <p:spPr>
          <a:xfrm>
            <a:off x="381000" y="12192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76205" y="0"/>
                </a:moveTo>
                <a:lnTo>
                  <a:pt x="2085970" y="0"/>
                </a:lnTo>
                <a:cubicBezTo>
                  <a:pt x="2128057" y="0"/>
                  <a:pt x="2162175" y="34118"/>
                  <a:pt x="2162175" y="76205"/>
                </a:cubicBezTo>
                <a:lnTo>
                  <a:pt x="2162175" y="1028695"/>
                </a:lnTo>
                <a:cubicBezTo>
                  <a:pt x="2162175" y="1070782"/>
                  <a:pt x="2128057" y="1104900"/>
                  <a:pt x="20859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6A873BF-7F4B-1072-FD24-78712FEB5F4F}"/>
              </a:ext>
            </a:extLst>
          </p:cNvPr>
          <p:cNvSpPr/>
          <p:nvPr/>
        </p:nvSpPr>
        <p:spPr>
          <a:xfrm>
            <a:off x="461963" y="1371600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DAM</a:t>
            </a:r>
            <a:endParaRPr lang="en-US" sz="16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6D6480E-FB66-246E-2E2E-E1C6A9A93F9B}"/>
              </a:ext>
            </a:extLst>
          </p:cNvPr>
          <p:cNvSpPr/>
          <p:nvPr/>
        </p:nvSpPr>
        <p:spPr>
          <a:xfrm>
            <a:off x="500063" y="17526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Ahead Market</a:t>
            </a:r>
            <a:endParaRPr lang="en-US" sz="16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09FE561-B387-9872-1589-06E464801231}"/>
              </a:ext>
            </a:extLst>
          </p:cNvPr>
          <p:cNvSpPr/>
          <p:nvPr/>
        </p:nvSpPr>
        <p:spPr>
          <a:xfrm>
            <a:off x="504825" y="2019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settled 24h ahead</a:t>
            </a:r>
            <a:endParaRPr lang="en-US"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CCD33E-9445-0274-53A7-61577509E02E}"/>
              </a:ext>
            </a:extLst>
          </p:cNvPr>
          <p:cNvSpPr/>
          <p:nvPr/>
        </p:nvSpPr>
        <p:spPr>
          <a:xfrm>
            <a:off x="5094833" y="1371600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IDA1</a:t>
            </a:r>
            <a:endParaRPr lang="en-US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F3EF4D-F62B-446D-8A06-E570BCB9F686}"/>
              </a:ext>
            </a:extLst>
          </p:cNvPr>
          <p:cNvSpPr/>
          <p:nvPr/>
        </p:nvSpPr>
        <p:spPr>
          <a:xfrm>
            <a:off x="5132933" y="17526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Intraday Auction 1</a:t>
            </a:r>
            <a:endParaRPr lang="en-US"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CE9AD1-8B90-C8F6-659E-68B1960C5115}"/>
              </a:ext>
            </a:extLst>
          </p:cNvPr>
          <p:cNvSpPr/>
          <p:nvPr/>
        </p:nvSpPr>
        <p:spPr>
          <a:xfrm>
            <a:off x="5137696" y="2019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settled 4h ahead</a:t>
            </a:r>
            <a:endParaRPr lang="en-US" sz="160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E1E9CD7-79DB-FAD2-EA90-B36D7909BF45}"/>
              </a:ext>
            </a:extLst>
          </p:cNvPr>
          <p:cNvSpPr/>
          <p:nvPr/>
        </p:nvSpPr>
        <p:spPr>
          <a:xfrm>
            <a:off x="9646890" y="12192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76205" y="0"/>
                </a:moveTo>
                <a:lnTo>
                  <a:pt x="2085970" y="0"/>
                </a:lnTo>
                <a:cubicBezTo>
                  <a:pt x="2128057" y="0"/>
                  <a:pt x="2162175" y="34118"/>
                  <a:pt x="2162175" y="76205"/>
                </a:cubicBezTo>
                <a:lnTo>
                  <a:pt x="2162175" y="1028695"/>
                </a:lnTo>
                <a:cubicBezTo>
                  <a:pt x="2162175" y="1070782"/>
                  <a:pt x="2128057" y="1104900"/>
                  <a:pt x="208597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8D51424-2C5A-4352-6993-0276BE975BA4}"/>
              </a:ext>
            </a:extLst>
          </p:cNvPr>
          <p:cNvSpPr/>
          <p:nvPr/>
        </p:nvSpPr>
        <p:spPr>
          <a:xfrm>
            <a:off x="9727853" y="1371600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</a:t>
            </a:r>
            <a:endParaRPr lang="en-US" sz="160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FCDA13F-E32B-280A-FD16-BEFC3EE6E9CB}"/>
              </a:ext>
            </a:extLst>
          </p:cNvPr>
          <p:cNvSpPr/>
          <p:nvPr/>
        </p:nvSpPr>
        <p:spPr>
          <a:xfrm>
            <a:off x="9765953" y="17526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Balancing Market</a:t>
            </a:r>
            <a:endParaRPr lang="en-US" sz="16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43759A10-AE0B-CF20-E41D-02FBBAFC30AE}"/>
              </a:ext>
            </a:extLst>
          </p:cNvPr>
          <p:cNvSpPr/>
          <p:nvPr/>
        </p:nvSpPr>
        <p:spPr>
          <a:xfrm>
            <a:off x="9770715" y="2019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time settlement</a:t>
            </a:r>
            <a:endParaRPr lang="en-US" sz="160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56036E9-B558-4162-7449-8A5883123F90}"/>
              </a:ext>
            </a:extLst>
          </p:cNvPr>
          <p:cNvSpPr/>
          <p:nvPr/>
        </p:nvSpPr>
        <p:spPr>
          <a:xfrm>
            <a:off x="381000" y="2379785"/>
            <a:ext cx="569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Structure &amp; Opportunity</a:t>
            </a:r>
            <a:endParaRPr lang="en-US" sz="160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4B9D2BB-4CA2-847E-91F6-73D7CD792745}"/>
              </a:ext>
            </a:extLst>
          </p:cNvPr>
          <p:cNvSpPr/>
          <p:nvPr/>
        </p:nvSpPr>
        <p:spPr>
          <a:xfrm>
            <a:off x="381000" y="2933700"/>
            <a:ext cx="481644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Single Electricity Market (SEM) operates as a </a:t>
            </a:r>
            <a:r>
              <a:rPr lang="en-US" sz="120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sequential auction system</a:t>
            </a: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where electricity is traded at progressively shorter time horizons before physical delivery. Each market closure reveals new information such as weather updates, demand revisions, plant outages which creates </a:t>
            </a:r>
            <a:r>
              <a:rPr lang="en-US" sz="1200">
                <a:solidFill>
                  <a:srgbClr val="38A1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discrepancies</a:t>
            </a:r>
            <a:r>
              <a:rPr lang="en-US" sz="12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between markets.</a:t>
            </a:r>
            <a:endParaRPr lang="en-US" sz="160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B5783CC9-A67E-A055-C11C-D2BDCB9F8064}"/>
              </a:ext>
            </a:extLst>
          </p:cNvPr>
          <p:cNvSpPr/>
          <p:nvPr/>
        </p:nvSpPr>
        <p:spPr>
          <a:xfrm>
            <a:off x="381000" y="4196708"/>
            <a:ext cx="4751797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990598"/>
                </a:lnTo>
                <a:cubicBezTo>
                  <a:pt x="5600700" y="1032683"/>
                  <a:pt x="5566583" y="1066800"/>
                  <a:pt x="5524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3440D23-CE65-1AC6-92D5-6689892874A2}"/>
              </a:ext>
            </a:extLst>
          </p:cNvPr>
          <p:cNvSpPr/>
          <p:nvPr/>
        </p:nvSpPr>
        <p:spPr>
          <a:xfrm>
            <a:off x="500063" y="4305300"/>
            <a:ext cx="4549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Trading Strategy</a:t>
            </a:r>
            <a:endParaRPr lang="en-US" sz="16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BBA3394-1CFD-8899-E3C3-D859C7D44F45}"/>
              </a:ext>
            </a:extLst>
          </p:cNvPr>
          <p:cNvSpPr/>
          <p:nvPr/>
        </p:nvSpPr>
        <p:spPr>
          <a:xfrm>
            <a:off x="500063" y="4572000"/>
            <a:ext cx="4549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model predicts IDA1 price &gt; DAM price then  </a:t>
            </a: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BUY in DAM, SELL in IDA1</a:t>
            </a:r>
            <a:endParaRPr lang="en-US" sz="160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CFB0AAA-89F1-43FB-A6E3-DCCF280EE6F1}"/>
              </a:ext>
            </a:extLst>
          </p:cNvPr>
          <p:cNvSpPr/>
          <p:nvPr/>
        </p:nvSpPr>
        <p:spPr>
          <a:xfrm>
            <a:off x="500063" y="4876800"/>
            <a:ext cx="4549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 = Position × (IDA1 - DAM) spread</a:t>
            </a:r>
            <a:endParaRPr lang="en-US" sz="16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ACAB7B65-77CA-81EE-DCD7-B630597A699E}"/>
              </a:ext>
            </a:extLst>
          </p:cNvPr>
          <p:cNvSpPr/>
          <p:nvPr/>
        </p:nvSpPr>
        <p:spPr>
          <a:xfrm>
            <a:off x="6210300" y="2514600"/>
            <a:ext cx="569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Spread Distributions</a:t>
            </a:r>
            <a:endParaRPr lang="en-US" sz="160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0340031E-6CC1-793F-B856-7882B4C707B8}"/>
              </a:ext>
            </a:extLst>
          </p:cNvPr>
          <p:cNvSpPr/>
          <p:nvPr/>
        </p:nvSpPr>
        <p:spPr>
          <a:xfrm>
            <a:off x="6210300" y="5448300"/>
            <a:ext cx="566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DAM-IDA1:</a:t>
            </a: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Mean €1.87, σ €23.6 | </a:t>
            </a:r>
            <a:r>
              <a:rPr lang="en-US" sz="105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DAM-BM:</a:t>
            </a:r>
            <a:r>
              <a:rPr lang="en-US" sz="105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Mean €2.10, σ €75.9</a:t>
            </a:r>
            <a:endParaRPr lang="en-US" sz="160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FDA75C88-4C35-DD32-8416-EBB692AF5372}"/>
              </a:ext>
            </a:extLst>
          </p:cNvPr>
          <p:cNvSpPr/>
          <p:nvPr/>
        </p:nvSpPr>
        <p:spPr>
          <a:xfrm>
            <a:off x="400050" y="5791200"/>
            <a:ext cx="11410950" cy="495300"/>
          </a:xfrm>
          <a:custGeom>
            <a:avLst/>
            <a:gdLst/>
            <a:ahLst/>
            <a:cxnLst/>
            <a:rect l="l" t="t" r="r" b="b"/>
            <a:pathLst>
              <a:path w="11410950" h="4953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419098"/>
                </a:lnTo>
                <a:cubicBezTo>
                  <a:pt x="11410950" y="461183"/>
                  <a:pt x="11376833" y="495300"/>
                  <a:pt x="11334748" y="495300"/>
                </a:cubicBezTo>
                <a:lnTo>
                  <a:pt x="38100" y="495300"/>
                </a:lnTo>
                <a:cubicBezTo>
                  <a:pt x="17072" y="495300"/>
                  <a:pt x="0" y="478228"/>
                  <a:pt x="0" y="45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8139F76E-4200-AB6C-9BA2-45B805D43D1A}"/>
              </a:ext>
            </a:extLst>
          </p:cNvPr>
          <p:cNvSpPr/>
          <p:nvPr/>
        </p:nvSpPr>
        <p:spPr>
          <a:xfrm>
            <a:off x="571500" y="5943600"/>
            <a:ext cx="1115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chemeClr val="bg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r>
              <a:rPr lang="en-US" sz="1050">
                <a:solidFill>
                  <a:schemeClr val="bg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Higher volatility in BM linked spreads (σ €73-76) vs DAM-IDA1 (σ €23.6) suggests greater profit potential but also higher risk in BM trading.</a:t>
            </a:r>
            <a:endParaRPr lang="en-US" sz="1600">
              <a:solidFill>
                <a:schemeClr val="bg2"/>
              </a:solidFill>
            </a:endParaRPr>
          </a:p>
        </p:txBody>
      </p:sp>
      <p:pic>
        <p:nvPicPr>
          <p:cNvPr id="27" name="Picture 26" descr="A graph of a distribution&#10;&#10;AI-generated content may be incorrect.">
            <a:extLst>
              <a:ext uri="{FF2B5EF4-FFF2-40B4-BE49-F238E27FC236}">
                <a16:creationId xmlns:a16="http://schemas.microsoft.com/office/drawing/2014/main" id="{B215606F-2B64-4016-0A5B-DCEF7F35E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861" y="2933700"/>
            <a:ext cx="6809318" cy="2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19A2B-DEE6-FEE1-0BC8-8B04A235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D52736A-C20A-D743-5509-C39AD4FB9537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FOUNDATION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37246EC-AB11-272D-7971-BB6DBA2922F5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Exploratory Data Analysis</a:t>
            </a:r>
            <a:endParaRPr lang="en-US" sz="16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25E73C2-5C01-CDD2-4058-401FE3A0A12B}"/>
              </a:ext>
            </a:extLst>
          </p:cNvPr>
          <p:cNvSpPr/>
          <p:nvPr/>
        </p:nvSpPr>
        <p:spPr>
          <a:xfrm>
            <a:off x="381000" y="1219200"/>
            <a:ext cx="3657600" cy="1790700"/>
          </a:xfrm>
          <a:custGeom>
            <a:avLst/>
            <a:gdLst/>
            <a:ahLst/>
            <a:cxnLst/>
            <a:rect l="l" t="t" r="r" b="b"/>
            <a:pathLst>
              <a:path w="3657600" h="1790700">
                <a:moveTo>
                  <a:pt x="76194" y="0"/>
                </a:moveTo>
                <a:lnTo>
                  <a:pt x="3581406" y="0"/>
                </a:lnTo>
                <a:cubicBezTo>
                  <a:pt x="3623458" y="0"/>
                  <a:pt x="3657600" y="34142"/>
                  <a:pt x="3657600" y="76194"/>
                </a:cubicBezTo>
                <a:lnTo>
                  <a:pt x="3657600" y="1714506"/>
                </a:lnTo>
                <a:cubicBezTo>
                  <a:pt x="3657600" y="1756587"/>
                  <a:pt x="3623487" y="1790700"/>
                  <a:pt x="35814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F7AB8C-FA16-F65D-5E2D-0EEBF86AD60B}"/>
              </a:ext>
            </a:extLst>
          </p:cNvPr>
          <p:cNvSpPr/>
          <p:nvPr/>
        </p:nvSpPr>
        <p:spPr>
          <a:xfrm>
            <a:off x="1028700" y="142875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Coverage</a:t>
            </a:r>
            <a:endParaRPr lang="en-US"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AB77F6-18DB-6D2E-79B0-BAFEE197FDFB}"/>
              </a:ext>
            </a:extLst>
          </p:cNvPr>
          <p:cNvSpPr/>
          <p:nvPr/>
        </p:nvSpPr>
        <p:spPr>
          <a:xfrm>
            <a:off x="533400" y="186690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Date:</a:t>
            </a:r>
            <a:endParaRPr lang="en-US"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9AC498-9DEA-BEDF-4358-4A2956ADD812}"/>
              </a:ext>
            </a:extLst>
          </p:cNvPr>
          <p:cNvSpPr/>
          <p:nvPr/>
        </p:nvSpPr>
        <p:spPr>
          <a:xfrm>
            <a:off x="3174355" y="18669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Jan 1, 2022</a:t>
            </a:r>
            <a:endParaRPr lang="en-US"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6D9B9B-5F42-2453-8373-40D9E4541E15}"/>
              </a:ext>
            </a:extLst>
          </p:cNvPr>
          <p:cNvSpPr/>
          <p:nvPr/>
        </p:nvSpPr>
        <p:spPr>
          <a:xfrm>
            <a:off x="533400" y="213360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 Date:</a:t>
            </a:r>
            <a:endParaRPr lang="en-US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0F9976-02AC-067B-373D-1A2FBEC9980C}"/>
              </a:ext>
            </a:extLst>
          </p:cNvPr>
          <p:cNvSpPr/>
          <p:nvPr/>
        </p:nvSpPr>
        <p:spPr>
          <a:xfrm>
            <a:off x="3085356" y="21336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 31, 2025</a:t>
            </a:r>
            <a:endParaRPr lang="en-US"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67E28B6-F19A-FEC5-8EED-560E011ED898}"/>
              </a:ext>
            </a:extLst>
          </p:cNvPr>
          <p:cNvSpPr/>
          <p:nvPr/>
        </p:nvSpPr>
        <p:spPr>
          <a:xfrm>
            <a:off x="533400" y="24003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Frequency:</a:t>
            </a:r>
            <a:endParaRPr lang="en-US"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283FF1-E26A-539F-6FED-E2B371E1BECF}"/>
              </a:ext>
            </a:extLst>
          </p:cNvPr>
          <p:cNvSpPr/>
          <p:nvPr/>
        </p:nvSpPr>
        <p:spPr>
          <a:xfrm>
            <a:off x="2670721" y="24003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30-minute intervals</a:t>
            </a:r>
            <a:endParaRPr lang="en-US"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994628C-B535-FBE8-D7A7-2F4E93F80D0F}"/>
              </a:ext>
            </a:extLst>
          </p:cNvPr>
          <p:cNvSpPr/>
          <p:nvPr/>
        </p:nvSpPr>
        <p:spPr>
          <a:xfrm>
            <a:off x="533400" y="26670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Obs: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1F9FEA-819F-76EF-D573-5B2AA8CA604E}"/>
              </a:ext>
            </a:extLst>
          </p:cNvPr>
          <p:cNvSpPr/>
          <p:nvPr/>
        </p:nvSpPr>
        <p:spPr>
          <a:xfrm>
            <a:off x="3478262" y="2667000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72,945</a:t>
            </a:r>
            <a:endParaRPr lang="en-US" sz="16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B00954-42BD-B3D0-B55C-8E49C4C959E4}"/>
              </a:ext>
            </a:extLst>
          </p:cNvPr>
          <p:cNvSpPr/>
          <p:nvPr/>
        </p:nvSpPr>
        <p:spPr>
          <a:xfrm>
            <a:off x="4267200" y="1219200"/>
            <a:ext cx="3657600" cy="1790700"/>
          </a:xfrm>
          <a:custGeom>
            <a:avLst/>
            <a:gdLst/>
            <a:ahLst/>
            <a:cxnLst/>
            <a:rect l="l" t="t" r="r" b="b"/>
            <a:pathLst>
              <a:path w="3657600" h="1790700">
                <a:moveTo>
                  <a:pt x="76194" y="0"/>
                </a:moveTo>
                <a:lnTo>
                  <a:pt x="3581406" y="0"/>
                </a:lnTo>
                <a:cubicBezTo>
                  <a:pt x="3623458" y="0"/>
                  <a:pt x="3657600" y="34142"/>
                  <a:pt x="3657600" y="76194"/>
                </a:cubicBezTo>
                <a:lnTo>
                  <a:pt x="3657600" y="1714506"/>
                </a:lnTo>
                <a:cubicBezTo>
                  <a:pt x="3657600" y="1756587"/>
                  <a:pt x="3623487" y="1790700"/>
                  <a:pt x="35814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CFA34AC7-4DF4-F018-E6FA-F66F942081DB}"/>
              </a:ext>
            </a:extLst>
          </p:cNvPr>
          <p:cNvSpPr/>
          <p:nvPr/>
        </p:nvSpPr>
        <p:spPr>
          <a:xfrm>
            <a:off x="4914900" y="142875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</a:t>
            </a:r>
            <a:endParaRPr lang="en-US" sz="160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931CF56C-1E57-EA13-CDE9-C3772C3D1689}"/>
              </a:ext>
            </a:extLst>
          </p:cNvPr>
          <p:cNvSpPr/>
          <p:nvPr/>
        </p:nvSpPr>
        <p:spPr>
          <a:xfrm>
            <a:off x="4419600" y="18669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 Features:</a:t>
            </a:r>
            <a:endParaRPr lang="en-US" sz="160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1AFEB51-D336-4C6B-791F-8996E3B40DB3}"/>
              </a:ext>
            </a:extLst>
          </p:cNvPr>
          <p:cNvSpPr/>
          <p:nvPr/>
        </p:nvSpPr>
        <p:spPr>
          <a:xfrm>
            <a:off x="7549902" y="18669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104</a:t>
            </a:r>
            <a:endParaRPr lang="en-US" sz="160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130D70F3-E874-340F-4E5B-F3643BB8A780}"/>
              </a:ext>
            </a:extLst>
          </p:cNvPr>
          <p:cNvSpPr/>
          <p:nvPr/>
        </p:nvSpPr>
        <p:spPr>
          <a:xfrm>
            <a:off x="4419600" y="2133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 Cleaning:</a:t>
            </a:r>
            <a:endParaRPr lang="en-US" sz="16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A9A63221-D8C8-6813-BDED-9F8C07D1C960}"/>
              </a:ext>
            </a:extLst>
          </p:cNvPr>
          <p:cNvSpPr/>
          <p:nvPr/>
        </p:nvSpPr>
        <p:spPr>
          <a:xfrm>
            <a:off x="7624018" y="213360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</a:t>
            </a:r>
            <a:endParaRPr lang="en-US" sz="16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B4459B7B-49E3-A82A-8CE7-3A544DF0AA97}"/>
              </a:ext>
            </a:extLst>
          </p:cNvPr>
          <p:cNvSpPr/>
          <p:nvPr/>
        </p:nvSpPr>
        <p:spPr>
          <a:xfrm>
            <a:off x="4419600" y="24003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 Outages:</a:t>
            </a:r>
            <a:endParaRPr lang="en-US" sz="16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A4AB81A4-5913-E216-27C8-0F6D5EF6712D}"/>
              </a:ext>
            </a:extLst>
          </p:cNvPr>
          <p:cNvSpPr/>
          <p:nvPr/>
        </p:nvSpPr>
        <p:spPr>
          <a:xfrm>
            <a:off x="7102227" y="24003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 (removed)</a:t>
            </a:r>
            <a:endParaRPr lang="en-US" sz="16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BE146E05-7783-B35B-6D75-24B48EC8DCAC}"/>
              </a:ext>
            </a:extLst>
          </p:cNvPr>
          <p:cNvSpPr/>
          <p:nvPr/>
        </p:nvSpPr>
        <p:spPr>
          <a:xfrm>
            <a:off x="4419600" y="26670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 Features:</a:t>
            </a:r>
            <a:endParaRPr lang="en-US" sz="160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EB281C1C-F8C3-3D86-8C80-FA9CDE9CA5DA}"/>
              </a:ext>
            </a:extLst>
          </p:cNvPr>
          <p:cNvSpPr/>
          <p:nvPr/>
        </p:nvSpPr>
        <p:spPr>
          <a:xfrm>
            <a:off x="7624018" y="266700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60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7A93BB8F-C5F2-8ABC-E006-7F5757020E4A}"/>
              </a:ext>
            </a:extLst>
          </p:cNvPr>
          <p:cNvSpPr/>
          <p:nvPr/>
        </p:nvSpPr>
        <p:spPr>
          <a:xfrm>
            <a:off x="381000" y="3200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Sources &amp; Measurement</a:t>
            </a:r>
            <a:endParaRPr lang="en-US" sz="1600"/>
          </a:p>
        </p:txBody>
      </p:sp>
      <p:sp>
        <p:nvSpPr>
          <p:cNvPr id="37" name="Shape 39">
            <a:extLst>
              <a:ext uri="{FF2B5EF4-FFF2-40B4-BE49-F238E27FC236}">
                <a16:creationId xmlns:a16="http://schemas.microsoft.com/office/drawing/2014/main" id="{6D1B11F4-DC6D-3FAF-830E-84066E9E8427}"/>
              </a:ext>
            </a:extLst>
          </p:cNvPr>
          <p:cNvSpPr/>
          <p:nvPr/>
        </p:nvSpPr>
        <p:spPr>
          <a:xfrm>
            <a:off x="400050" y="3619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5009" y="8334"/>
                </a:moveTo>
                <a:cubicBezTo>
                  <a:pt x="75009" y="12944"/>
                  <a:pt x="78734" y="16669"/>
                  <a:pt x="83344" y="16669"/>
                </a:cubicBezTo>
                <a:lnTo>
                  <a:pt x="93762" y="16669"/>
                </a:lnTo>
                <a:cubicBezTo>
                  <a:pt x="97226" y="16669"/>
                  <a:pt x="100013" y="19456"/>
                  <a:pt x="100013" y="22920"/>
                </a:cubicBezTo>
                <a:cubicBezTo>
                  <a:pt x="100013" y="26384"/>
                  <a:pt x="97226" y="29170"/>
                  <a:pt x="93762" y="29170"/>
                </a:cubicBezTo>
                <a:lnTo>
                  <a:pt x="8334" y="29170"/>
                </a:lnTo>
                <a:cubicBezTo>
                  <a:pt x="3724" y="29170"/>
                  <a:pt x="0" y="32895"/>
                  <a:pt x="0" y="37505"/>
                </a:cubicBezTo>
                <a:cubicBezTo>
                  <a:pt x="0" y="42115"/>
                  <a:pt x="3724" y="45839"/>
                  <a:pt x="8334" y="45839"/>
                </a:cubicBezTo>
                <a:lnTo>
                  <a:pt x="93762" y="45839"/>
                </a:lnTo>
                <a:cubicBezTo>
                  <a:pt x="106420" y="45839"/>
                  <a:pt x="116681" y="35577"/>
                  <a:pt x="116681" y="22920"/>
                </a:cubicBezTo>
                <a:cubicBezTo>
                  <a:pt x="116681" y="10262"/>
                  <a:pt x="106420" y="0"/>
                  <a:pt x="93762" y="0"/>
                </a:cubicBezTo>
                <a:lnTo>
                  <a:pt x="83344" y="0"/>
                </a:lnTo>
                <a:cubicBezTo>
                  <a:pt x="78734" y="0"/>
                  <a:pt x="75009" y="3724"/>
                  <a:pt x="75009" y="8334"/>
                </a:cubicBezTo>
                <a:close/>
                <a:moveTo>
                  <a:pt x="91678" y="100013"/>
                </a:moveTo>
                <a:cubicBezTo>
                  <a:pt x="91678" y="104622"/>
                  <a:pt x="95403" y="108347"/>
                  <a:pt x="100013" y="108347"/>
                </a:cubicBezTo>
                <a:lnTo>
                  <a:pt x="108347" y="108347"/>
                </a:lnTo>
                <a:cubicBezTo>
                  <a:pt x="122151" y="108347"/>
                  <a:pt x="133350" y="97148"/>
                  <a:pt x="133350" y="83344"/>
                </a:cubicBezTo>
                <a:cubicBezTo>
                  <a:pt x="133350" y="69540"/>
                  <a:pt x="122151" y="58341"/>
                  <a:pt x="108347" y="58341"/>
                </a:cubicBez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100013" y="91678"/>
                </a:lnTo>
                <a:cubicBezTo>
                  <a:pt x="95403" y="91678"/>
                  <a:pt x="91678" y="95403"/>
                  <a:pt x="91678" y="100013"/>
                </a:cubicBezTo>
                <a:close/>
                <a:moveTo>
                  <a:pt x="33337" y="133350"/>
                </a:moveTo>
                <a:lnTo>
                  <a:pt x="43755" y="133350"/>
                </a:lnTo>
                <a:cubicBezTo>
                  <a:pt x="56413" y="133350"/>
                  <a:pt x="66675" y="123088"/>
                  <a:pt x="66675" y="110430"/>
                </a:cubicBezTo>
                <a:cubicBezTo>
                  <a:pt x="66675" y="97773"/>
                  <a:pt x="56413" y="87511"/>
                  <a:pt x="43755" y="87511"/>
                </a:cubicBezTo>
                <a:lnTo>
                  <a:pt x="8334" y="87511"/>
                </a:lnTo>
                <a:cubicBezTo>
                  <a:pt x="3724" y="87511"/>
                  <a:pt x="0" y="91235"/>
                  <a:pt x="0" y="95845"/>
                </a:cubicBezTo>
                <a:cubicBezTo>
                  <a:pt x="0" y="100455"/>
                  <a:pt x="3724" y="104180"/>
                  <a:pt x="8334" y="104180"/>
                </a:cubicBezTo>
                <a:lnTo>
                  <a:pt x="43755" y="104180"/>
                </a:lnTo>
                <a:cubicBezTo>
                  <a:pt x="47219" y="104180"/>
                  <a:pt x="50006" y="106966"/>
                  <a:pt x="50006" y="110430"/>
                </a:cubicBezTo>
                <a:cubicBezTo>
                  <a:pt x="50006" y="113894"/>
                  <a:pt x="47219" y="116681"/>
                  <a:pt x="43755" y="116681"/>
                </a:cubicBezTo>
                <a:lnTo>
                  <a:pt x="33337" y="116681"/>
                </a:lnTo>
                <a:cubicBezTo>
                  <a:pt x="28728" y="116681"/>
                  <a:pt x="25003" y="120406"/>
                  <a:pt x="25003" y="125016"/>
                </a:cubicBezTo>
                <a:cubicBezTo>
                  <a:pt x="25003" y="129626"/>
                  <a:pt x="28728" y="133350"/>
                  <a:pt x="33337" y="13335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EA558521-B6F1-FADA-F330-2B7E3B878123}"/>
              </a:ext>
            </a:extLst>
          </p:cNvPr>
          <p:cNvSpPr/>
          <p:nvPr/>
        </p:nvSpPr>
        <p:spPr>
          <a:xfrm>
            <a:off x="623888" y="3581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 Forecasts: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Meteo ISEMWIND, EirGrid WindFc, EmSys C/UM Wind (DAM, IDA1-3)</a:t>
            </a:r>
            <a:endParaRPr lang="en-US" sz="1600"/>
          </a:p>
        </p:txBody>
      </p:sp>
      <p:sp>
        <p:nvSpPr>
          <p:cNvPr id="39" name="Shape 41">
            <a:extLst>
              <a:ext uri="{FF2B5EF4-FFF2-40B4-BE49-F238E27FC236}">
                <a16:creationId xmlns:a16="http://schemas.microsoft.com/office/drawing/2014/main" id="{5C0BA0BC-589B-87B6-BFD5-DB0B731176B7}"/>
              </a:ext>
            </a:extLst>
          </p:cNvPr>
          <p:cNvSpPr/>
          <p:nvPr/>
        </p:nvSpPr>
        <p:spPr>
          <a:xfrm>
            <a:off x="406375" y="3990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D8E45E5A-1E0A-7B89-E99C-BDA8445F6C75}"/>
              </a:ext>
            </a:extLst>
          </p:cNvPr>
          <p:cNvSpPr/>
          <p:nvPr/>
        </p:nvSpPr>
        <p:spPr>
          <a:xfrm>
            <a:off x="615404" y="384810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 Forecasts: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Meteo ISEMDEMAND, EirGrid DemandFc, ISEMDEMAND (DAM, IDA1-3)</a:t>
            </a:r>
            <a:endParaRPr lang="en-US" sz="1600"/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F4D81490-B1C6-B431-82BA-BC96A94C129D}"/>
              </a:ext>
            </a:extLst>
          </p:cNvPr>
          <p:cNvSpPr/>
          <p:nvPr/>
        </p:nvSpPr>
        <p:spPr>
          <a:xfrm>
            <a:off x="400050" y="4343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398FCB8B-0C53-0A28-F825-41E1D8E8B17B}"/>
              </a:ext>
            </a:extLst>
          </p:cNvPr>
          <p:cNvSpPr/>
          <p:nvPr/>
        </p:nvSpPr>
        <p:spPr>
          <a:xfrm>
            <a:off x="623888" y="4305300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GB Market Prices: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EPEX, N2EX, HH EPEX (DAM, IDA1)</a:t>
            </a:r>
            <a:endParaRPr lang="en-US" sz="1600"/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4DA48B70-48A7-A3F8-7EBE-F860268858F5}"/>
              </a:ext>
            </a:extLst>
          </p:cNvPr>
          <p:cNvSpPr/>
          <p:nvPr/>
        </p:nvSpPr>
        <p:spPr>
          <a:xfrm>
            <a:off x="400050" y="4667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CC52227E-B81C-DB1F-5678-2FC528296D11}"/>
              </a:ext>
            </a:extLst>
          </p:cNvPr>
          <p:cNvSpPr/>
          <p:nvPr/>
        </p:nvSpPr>
        <p:spPr>
          <a:xfrm>
            <a:off x="623888" y="4629150"/>
            <a:ext cx="455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Interconnector Flows: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IE_GB_MW, GB_IE_MW, LTS_IC_NI, LTS_IC_ROI</a:t>
            </a:r>
            <a:endParaRPr lang="en-US" sz="1600"/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92E4A90E-A7F0-FEEA-FD3B-2D9A14284591}"/>
              </a:ext>
            </a:extLst>
          </p:cNvPr>
          <p:cNvSpPr/>
          <p:nvPr/>
        </p:nvSpPr>
        <p:spPr>
          <a:xfrm>
            <a:off x="400050" y="4962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lnTo>
                  <a:pt x="0" y="112514"/>
                </a:lnTo>
                <a:cubicBezTo>
                  <a:pt x="0" y="119416"/>
                  <a:pt x="5600" y="125016"/>
                  <a:pt x="12502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39640"/>
                </a:lnTo>
                <a:cubicBezTo>
                  <a:pt x="133350" y="34900"/>
                  <a:pt x="128297" y="31905"/>
                  <a:pt x="124130" y="34145"/>
                </a:cubicBezTo>
                <a:lnTo>
                  <a:pt x="83344" y="56101"/>
                </a:lnTo>
                <a:lnTo>
                  <a:pt x="83344" y="39640"/>
                </a:lnTo>
                <a:cubicBezTo>
                  <a:pt x="83344" y="34900"/>
                  <a:pt x="78291" y="31905"/>
                  <a:pt x="74124" y="34145"/>
                </a:cubicBezTo>
                <a:lnTo>
                  <a:pt x="33337" y="56101"/>
                </a:lnTo>
                <a:lnTo>
                  <a:pt x="33337" y="16669"/>
                </a:lnTo>
                <a:cubicBezTo>
                  <a:pt x="33337" y="12059"/>
                  <a:pt x="29613" y="8334"/>
                  <a:pt x="25003" y="8334"/>
                </a:cubicBezTo>
                <a:lnTo>
                  <a:pt x="8334" y="8334"/>
                </a:ln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1FCE162F-35EF-CF6D-914F-467CFA3A4804}"/>
              </a:ext>
            </a:extLst>
          </p:cNvPr>
          <p:cNvSpPr/>
          <p:nvPr/>
        </p:nvSpPr>
        <p:spPr>
          <a:xfrm>
            <a:off x="617339" y="4871671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Generation: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TotalPN, PumpStorage, 15 GU outage variables (removed due to low correlation)</a:t>
            </a:r>
            <a:endParaRPr lang="en-US" sz="1600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09FE5A4E-4FE0-2643-CEC2-F78F99AFFF04}"/>
              </a:ext>
            </a:extLst>
          </p:cNvPr>
          <p:cNvSpPr/>
          <p:nvPr/>
        </p:nvSpPr>
        <p:spPr>
          <a:xfrm>
            <a:off x="5334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AE378A9-8BE9-E5A6-DAA1-5BC154028670}"/>
              </a:ext>
            </a:extLst>
          </p:cNvPr>
          <p:cNvSpPr/>
          <p:nvPr/>
        </p:nvSpPr>
        <p:spPr>
          <a:xfrm>
            <a:off x="657225" y="148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A9DBA105-85E5-A80E-835B-D83579352CE3}"/>
              </a:ext>
            </a:extLst>
          </p:cNvPr>
          <p:cNvSpPr/>
          <p:nvPr/>
        </p:nvSpPr>
        <p:spPr>
          <a:xfrm>
            <a:off x="44196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D007ECAF-E73A-D29C-34F3-6FACFB87295A}"/>
              </a:ext>
            </a:extLst>
          </p:cNvPr>
          <p:cNvSpPr/>
          <p:nvPr/>
        </p:nvSpPr>
        <p:spPr>
          <a:xfrm>
            <a:off x="4533900" y="148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F4871B0A-1EE9-A59C-9B18-F82CFAEF93F8}"/>
              </a:ext>
            </a:extLst>
          </p:cNvPr>
          <p:cNvSpPr/>
          <p:nvPr/>
        </p:nvSpPr>
        <p:spPr>
          <a:xfrm>
            <a:off x="8429625" y="148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Picture 1" descr="A graph with red lines&#10;&#10;AI-generated content may be incorrect.">
            <a:extLst>
              <a:ext uri="{FF2B5EF4-FFF2-40B4-BE49-F238E27FC236}">
                <a16:creationId xmlns:a16="http://schemas.microsoft.com/office/drawing/2014/main" id="{9D3F7B0F-4BD9-2E67-938F-D07D2EAD0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991" y="664464"/>
            <a:ext cx="3739026" cy="2602545"/>
          </a:xfrm>
          <a:prstGeom prst="rect">
            <a:avLst/>
          </a:prstGeom>
        </p:spPr>
      </p:pic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12D3B47A-1AA7-E4A6-A21C-24EB4D2E23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" r="6523" b="-1"/>
          <a:stretch>
            <a:fillRect/>
          </a:stretch>
        </p:blipFill>
        <p:spPr>
          <a:xfrm>
            <a:off x="6720840" y="3525490"/>
            <a:ext cx="5181177" cy="2448931"/>
          </a:xfrm>
          <a:prstGeom prst="rect">
            <a:avLst/>
          </a:prstGeom>
        </p:spPr>
      </p:pic>
      <p:sp>
        <p:nvSpPr>
          <p:cNvPr id="65" name="Text 48">
            <a:extLst>
              <a:ext uri="{FF2B5EF4-FFF2-40B4-BE49-F238E27FC236}">
                <a16:creationId xmlns:a16="http://schemas.microsoft.com/office/drawing/2014/main" id="{4797541B-EDFD-63BF-37E3-F2C9D6A8782C}"/>
              </a:ext>
            </a:extLst>
          </p:cNvPr>
          <p:cNvSpPr/>
          <p:nvPr/>
        </p:nvSpPr>
        <p:spPr>
          <a:xfrm>
            <a:off x="615404" y="5210175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Outages (GU): </a:t>
            </a: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 of all generator units </a:t>
            </a:r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05FC995A-41D0-6572-8015-BD41CDB22A0F}"/>
              </a:ext>
            </a:extLst>
          </p:cNvPr>
          <p:cNvSpPr/>
          <p:nvPr/>
        </p:nvSpPr>
        <p:spPr>
          <a:xfrm>
            <a:off x="380999" y="6046915"/>
            <a:ext cx="11496675" cy="603471"/>
          </a:xfrm>
          <a:custGeom>
            <a:avLst/>
            <a:gdLst/>
            <a:ahLst/>
            <a:cxnLst/>
            <a:rect l="l" t="t" r="r" b="b"/>
            <a:pathLst>
              <a:path w="5595720" h="611453">
                <a:moveTo>
                  <a:pt x="74114" y="0"/>
                </a:moveTo>
                <a:lnTo>
                  <a:pt x="5521606" y="0"/>
                </a:lnTo>
                <a:cubicBezTo>
                  <a:pt x="5562538" y="0"/>
                  <a:pt x="5595720" y="33182"/>
                  <a:pt x="5595720" y="74114"/>
                </a:cubicBezTo>
                <a:lnTo>
                  <a:pt x="5595720" y="537339"/>
                </a:lnTo>
                <a:cubicBezTo>
                  <a:pt x="5595720" y="578271"/>
                  <a:pt x="5562538" y="611453"/>
                  <a:pt x="5521606" y="611453"/>
                </a:cubicBezTo>
                <a:lnTo>
                  <a:pt x="74114" y="611453"/>
                </a:lnTo>
                <a:cubicBezTo>
                  <a:pt x="33209" y="611453"/>
                  <a:pt x="0" y="578243"/>
                  <a:pt x="0" y="537339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solidFill>
            <a:srgbClr val="38A169"/>
          </a:solidFill>
          <a:ln w="254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FD61F272-5907-9150-5E8D-581C1B45C358}"/>
              </a:ext>
            </a:extLst>
          </p:cNvPr>
          <p:cNvSpPr/>
          <p:nvPr/>
        </p:nvSpPr>
        <p:spPr>
          <a:xfrm>
            <a:off x="519261" y="6348812"/>
            <a:ext cx="11546252" cy="26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</a:t>
            </a:r>
            <a:r>
              <a:rPr lang="en-US" sz="1050" b="1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Insights</a:t>
            </a:r>
            <a:r>
              <a:rPr lang="en-US" sz="1050" b="1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n-US" sz="105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forecast sources provide complementary signals, GB-SEM spreads enable arbitrage, Supply constraints drive volatility , Hourly patterns reveal systematic price variations.</a:t>
            </a:r>
          </a:p>
          <a:p>
            <a:pPr>
              <a:lnSpc>
                <a:spcPct val="120000"/>
              </a:lnSpc>
            </a:pPr>
            <a:endParaRPr lang="en-US" sz="1600"/>
          </a:p>
        </p:txBody>
      </p:sp>
      <p:sp>
        <p:nvSpPr>
          <p:cNvPr id="71" name="Shape 28">
            <a:extLst>
              <a:ext uri="{FF2B5EF4-FFF2-40B4-BE49-F238E27FC236}">
                <a16:creationId xmlns:a16="http://schemas.microsoft.com/office/drawing/2014/main" id="{BC3ADAC8-E351-66B8-3B43-7DC6449FD761}"/>
              </a:ext>
            </a:extLst>
          </p:cNvPr>
          <p:cNvSpPr/>
          <p:nvPr/>
        </p:nvSpPr>
        <p:spPr>
          <a:xfrm>
            <a:off x="400050" y="5334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7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5D4A773-99C6-6CFE-8699-5999FFF4FBD4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FOUNDATION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FE48460-BA0B-029D-550A-71D93824ED93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Cleanse</a:t>
            </a:r>
            <a:endParaRPr lang="en-US" sz="160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70D5568A-90DC-C611-4783-986E7EEF7603}"/>
              </a:ext>
            </a:extLst>
          </p:cNvPr>
          <p:cNvSpPr/>
          <p:nvPr/>
        </p:nvSpPr>
        <p:spPr>
          <a:xfrm>
            <a:off x="4267200" y="1219200"/>
            <a:ext cx="3657600" cy="1790700"/>
          </a:xfrm>
          <a:custGeom>
            <a:avLst/>
            <a:gdLst/>
            <a:ahLst/>
            <a:cxnLst/>
            <a:rect l="l" t="t" r="r" b="b"/>
            <a:pathLst>
              <a:path w="3657600" h="1790700">
                <a:moveTo>
                  <a:pt x="76194" y="0"/>
                </a:moveTo>
                <a:lnTo>
                  <a:pt x="3581406" y="0"/>
                </a:lnTo>
                <a:cubicBezTo>
                  <a:pt x="3623458" y="0"/>
                  <a:pt x="3657600" y="34142"/>
                  <a:pt x="3657600" y="76194"/>
                </a:cubicBezTo>
                <a:lnTo>
                  <a:pt x="3657600" y="1714506"/>
                </a:lnTo>
                <a:cubicBezTo>
                  <a:pt x="3657600" y="1756587"/>
                  <a:pt x="3623487" y="1790700"/>
                  <a:pt x="35814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19BC5BB-7768-2E2A-E4D9-44431E877230}"/>
              </a:ext>
            </a:extLst>
          </p:cNvPr>
          <p:cNvSpPr/>
          <p:nvPr/>
        </p:nvSpPr>
        <p:spPr>
          <a:xfrm>
            <a:off x="4914900" y="142875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Train/Test Split</a:t>
            </a:r>
            <a:endParaRPr lang="en-US" sz="160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24404AA1-4390-AD22-DBF9-4B746AB0ECE0}"/>
              </a:ext>
            </a:extLst>
          </p:cNvPr>
          <p:cNvSpPr/>
          <p:nvPr/>
        </p:nvSpPr>
        <p:spPr>
          <a:xfrm>
            <a:off x="4419600" y="1866900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Training:</a:t>
            </a:r>
            <a:endParaRPr lang="en-US" sz="160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1620CE24-6538-BA10-B84D-E24BD0F792D4}"/>
              </a:ext>
            </a:extLst>
          </p:cNvPr>
          <p:cNvSpPr/>
          <p:nvPr/>
        </p:nvSpPr>
        <p:spPr>
          <a:xfrm>
            <a:off x="6971705" y="18669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43,688 (60%)</a:t>
            </a:r>
            <a:endParaRPr lang="en-US" sz="160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26170549-F400-1F67-C23B-359826A1D4CF}"/>
              </a:ext>
            </a:extLst>
          </p:cNvPr>
          <p:cNvSpPr/>
          <p:nvPr/>
        </p:nvSpPr>
        <p:spPr>
          <a:xfrm>
            <a:off x="4419600" y="213360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Validation:</a:t>
            </a:r>
            <a:endParaRPr lang="en-US" sz="1600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DD6B0B42-7631-5A28-2D92-9501266F6A84}"/>
              </a:ext>
            </a:extLst>
          </p:cNvPr>
          <p:cNvSpPr/>
          <p:nvPr/>
        </p:nvSpPr>
        <p:spPr>
          <a:xfrm>
            <a:off x="6971705" y="21336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17,588 (24%)</a:t>
            </a:r>
            <a:endParaRPr lang="en-US" sz="160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F990F3B5-E279-CB6D-E2F5-B858A691F3C0}"/>
              </a:ext>
            </a:extLst>
          </p:cNvPr>
          <p:cNvSpPr/>
          <p:nvPr/>
        </p:nvSpPr>
        <p:spPr>
          <a:xfrm>
            <a:off x="4419600" y="2400300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Test:</a:t>
            </a:r>
            <a:endParaRPr lang="en-US" sz="160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2ED17BC9-1BA1-0308-B706-C8E229A0A475}"/>
              </a:ext>
            </a:extLst>
          </p:cNvPr>
          <p:cNvSpPr/>
          <p:nvPr/>
        </p:nvSpPr>
        <p:spPr>
          <a:xfrm>
            <a:off x="6971705" y="24003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11,661 (16%)</a:t>
            </a:r>
            <a:endParaRPr lang="en-US" sz="1600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8B123752-623C-B8EC-4999-56F6DEFF59F7}"/>
              </a:ext>
            </a:extLst>
          </p:cNvPr>
          <p:cNvSpPr/>
          <p:nvPr/>
        </p:nvSpPr>
        <p:spPr>
          <a:xfrm>
            <a:off x="4419600" y="2667000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Method:</a:t>
            </a:r>
            <a:endParaRPr lang="en-US" sz="1600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F68DDEC1-60A3-E762-EF12-3F36506AE1EB}"/>
              </a:ext>
            </a:extLst>
          </p:cNvPr>
          <p:cNvSpPr/>
          <p:nvPr/>
        </p:nvSpPr>
        <p:spPr>
          <a:xfrm>
            <a:off x="7172176" y="26670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600"/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CFF82C9B-C5B8-B496-81D7-62D2AD4A7852}"/>
              </a:ext>
            </a:extLst>
          </p:cNvPr>
          <p:cNvSpPr/>
          <p:nvPr/>
        </p:nvSpPr>
        <p:spPr>
          <a:xfrm>
            <a:off x="381000" y="33528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Quality Protocol</a:t>
            </a:r>
            <a:endParaRPr lang="en-US" sz="1600"/>
          </a:p>
        </p:txBody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2AD98D4F-479C-BA6A-866E-B5AB3471B79B}"/>
              </a:ext>
            </a:extLst>
          </p:cNvPr>
          <p:cNvSpPr/>
          <p:nvPr/>
        </p:nvSpPr>
        <p:spPr>
          <a:xfrm>
            <a:off x="381000" y="3848101"/>
            <a:ext cx="754380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52">
            <a:extLst>
              <a:ext uri="{FF2B5EF4-FFF2-40B4-BE49-F238E27FC236}">
                <a16:creationId xmlns:a16="http://schemas.microsoft.com/office/drawing/2014/main" id="{09D1F734-E74F-B968-B81F-394DDEA77083}"/>
              </a:ext>
            </a:extLst>
          </p:cNvPr>
          <p:cNvSpPr/>
          <p:nvPr/>
        </p:nvSpPr>
        <p:spPr>
          <a:xfrm>
            <a:off x="475488" y="3962401"/>
            <a:ext cx="38270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Value Treatment</a:t>
            </a:r>
            <a:endParaRPr lang="en-US" sz="1600"/>
          </a:p>
        </p:txBody>
      </p:sp>
      <p:sp>
        <p:nvSpPr>
          <p:cNvPr id="50" name="Text 53">
            <a:extLst>
              <a:ext uri="{FF2B5EF4-FFF2-40B4-BE49-F238E27FC236}">
                <a16:creationId xmlns:a16="http://schemas.microsoft.com/office/drawing/2014/main" id="{AB8A951F-09C4-9A31-7905-7E790CC3AD08}"/>
              </a:ext>
            </a:extLst>
          </p:cNvPr>
          <p:cNvSpPr/>
          <p:nvPr/>
        </p:nvSpPr>
        <p:spPr>
          <a:xfrm>
            <a:off x="475489" y="4238626"/>
            <a:ext cx="70077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Columns with &gt;50% missingness removed (ISEMSOLAR, ISEMWIND_U_M_50). Remaining NaNs handled via imputation.</a:t>
            </a:r>
            <a:endParaRPr lang="en-US" sz="1600"/>
          </a:p>
        </p:txBody>
      </p:sp>
      <p:sp>
        <p:nvSpPr>
          <p:cNvPr id="51" name="Shape 54">
            <a:extLst>
              <a:ext uri="{FF2B5EF4-FFF2-40B4-BE49-F238E27FC236}">
                <a16:creationId xmlns:a16="http://schemas.microsoft.com/office/drawing/2014/main" id="{06668CB5-8D22-CD50-FD68-2E3BBA634326}"/>
              </a:ext>
            </a:extLst>
          </p:cNvPr>
          <p:cNvSpPr/>
          <p:nvPr/>
        </p:nvSpPr>
        <p:spPr>
          <a:xfrm>
            <a:off x="381000" y="4724401"/>
            <a:ext cx="754380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CD9BB0A7-E2EF-093B-42B4-60543761B73C}"/>
              </a:ext>
            </a:extLst>
          </p:cNvPr>
          <p:cNvSpPr/>
          <p:nvPr/>
        </p:nvSpPr>
        <p:spPr>
          <a:xfrm>
            <a:off x="475488" y="4819651"/>
            <a:ext cx="38270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Selection</a:t>
            </a:r>
            <a:endParaRPr lang="en-US" sz="1600"/>
          </a:p>
        </p:txBody>
      </p:sp>
      <p:sp>
        <p:nvSpPr>
          <p:cNvPr id="53" name="Text 57">
            <a:extLst>
              <a:ext uri="{FF2B5EF4-FFF2-40B4-BE49-F238E27FC236}">
                <a16:creationId xmlns:a16="http://schemas.microsoft.com/office/drawing/2014/main" id="{35214C5B-2226-8379-1C1B-ED4B67116987}"/>
              </a:ext>
            </a:extLst>
          </p:cNvPr>
          <p:cNvSpPr/>
          <p:nvPr/>
        </p:nvSpPr>
        <p:spPr>
          <a:xfrm>
            <a:off x="475488" y="5029201"/>
            <a:ext cx="64779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 outage variables removed after correlation analysis showed r &lt; 0.15 with price movements.</a:t>
            </a:r>
            <a:endParaRPr lang="en-US" sz="1600"/>
          </a:p>
        </p:txBody>
      </p:sp>
      <p:sp>
        <p:nvSpPr>
          <p:cNvPr id="54" name="Shape 58">
            <a:extLst>
              <a:ext uri="{FF2B5EF4-FFF2-40B4-BE49-F238E27FC236}">
                <a16:creationId xmlns:a16="http://schemas.microsoft.com/office/drawing/2014/main" id="{8A89E122-34B3-BC10-94F9-84C880F65904}"/>
              </a:ext>
            </a:extLst>
          </p:cNvPr>
          <p:cNvSpPr/>
          <p:nvPr/>
        </p:nvSpPr>
        <p:spPr>
          <a:xfrm>
            <a:off x="381000" y="5600701"/>
            <a:ext cx="754380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60">
            <a:extLst>
              <a:ext uri="{FF2B5EF4-FFF2-40B4-BE49-F238E27FC236}">
                <a16:creationId xmlns:a16="http://schemas.microsoft.com/office/drawing/2014/main" id="{4223C8BC-BD98-A813-4A0F-17CE4259D3B0}"/>
              </a:ext>
            </a:extLst>
          </p:cNvPr>
          <p:cNvSpPr/>
          <p:nvPr/>
        </p:nvSpPr>
        <p:spPr>
          <a:xfrm>
            <a:off x="475488" y="5676901"/>
            <a:ext cx="38270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Integrity</a:t>
            </a:r>
            <a:endParaRPr lang="en-US" sz="1600"/>
          </a:p>
        </p:txBody>
      </p:sp>
      <p:sp>
        <p:nvSpPr>
          <p:cNvPr id="56" name="Text 61">
            <a:extLst>
              <a:ext uri="{FF2B5EF4-FFF2-40B4-BE49-F238E27FC236}">
                <a16:creationId xmlns:a16="http://schemas.microsoft.com/office/drawing/2014/main" id="{8F09D5B1-371A-37BB-EB1A-F731DF7B29CE}"/>
              </a:ext>
            </a:extLst>
          </p:cNvPr>
          <p:cNvSpPr/>
          <p:nvPr/>
        </p:nvSpPr>
        <p:spPr>
          <a:xfrm>
            <a:off x="475488" y="5905501"/>
            <a:ext cx="64779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TradeDate calculated from StartDateTime (23:00-22:30 cycle). Duplicate timestamps removed.</a:t>
            </a:r>
            <a:endParaRPr lang="en-US" sz="1600"/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1572B459-1D71-D60B-289F-C8C89016D5EA}"/>
              </a:ext>
            </a:extLst>
          </p:cNvPr>
          <p:cNvSpPr/>
          <p:nvPr/>
        </p:nvSpPr>
        <p:spPr>
          <a:xfrm>
            <a:off x="44196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477475B9-18F1-2300-999D-8C9EF08DFF4D}"/>
              </a:ext>
            </a:extLst>
          </p:cNvPr>
          <p:cNvSpPr/>
          <p:nvPr/>
        </p:nvSpPr>
        <p:spPr>
          <a:xfrm>
            <a:off x="4543425" y="148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40022775-6C72-8246-CD39-9BCF39978FC6}"/>
              </a:ext>
            </a:extLst>
          </p:cNvPr>
          <p:cNvSpPr/>
          <p:nvPr/>
        </p:nvSpPr>
        <p:spPr>
          <a:xfrm>
            <a:off x="381000" y="1219200"/>
            <a:ext cx="3657600" cy="1790700"/>
          </a:xfrm>
          <a:custGeom>
            <a:avLst/>
            <a:gdLst/>
            <a:ahLst/>
            <a:cxnLst/>
            <a:rect l="l" t="t" r="r" b="b"/>
            <a:pathLst>
              <a:path w="3657600" h="1790700">
                <a:moveTo>
                  <a:pt x="76194" y="0"/>
                </a:moveTo>
                <a:lnTo>
                  <a:pt x="3581406" y="0"/>
                </a:lnTo>
                <a:cubicBezTo>
                  <a:pt x="3623458" y="0"/>
                  <a:pt x="3657600" y="34142"/>
                  <a:pt x="3657600" y="76194"/>
                </a:cubicBezTo>
                <a:lnTo>
                  <a:pt x="3657600" y="1714506"/>
                </a:lnTo>
                <a:cubicBezTo>
                  <a:pt x="3657600" y="1756587"/>
                  <a:pt x="3623487" y="1790700"/>
                  <a:pt x="35814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96CB6B8D-69F3-1296-885D-7E1931A67EEA}"/>
              </a:ext>
            </a:extLst>
          </p:cNvPr>
          <p:cNvSpPr/>
          <p:nvPr/>
        </p:nvSpPr>
        <p:spPr>
          <a:xfrm>
            <a:off x="1028700" y="142875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Variables</a:t>
            </a:r>
            <a:endParaRPr lang="en-US" sz="160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20DAF5CF-132F-5F56-885B-6E3E0A24BC32}"/>
              </a:ext>
            </a:extLst>
          </p:cNvPr>
          <p:cNvSpPr/>
          <p:nvPr/>
        </p:nvSpPr>
        <p:spPr>
          <a:xfrm>
            <a:off x="533400" y="18669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 Features:</a:t>
            </a:r>
            <a:endParaRPr lang="en-US" sz="160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5089EE76-96E3-030E-1A2E-C20537ED319A}"/>
              </a:ext>
            </a:extLst>
          </p:cNvPr>
          <p:cNvSpPr/>
          <p:nvPr/>
        </p:nvSpPr>
        <p:spPr>
          <a:xfrm>
            <a:off x="3663702" y="18669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104</a:t>
            </a:r>
            <a:endParaRPr lang="en-US" sz="160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24FC2867-DCEA-30BE-D98A-C417B250AA62}"/>
              </a:ext>
            </a:extLst>
          </p:cNvPr>
          <p:cNvSpPr/>
          <p:nvPr/>
        </p:nvSpPr>
        <p:spPr>
          <a:xfrm>
            <a:off x="533400" y="2133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 Cleaning:</a:t>
            </a:r>
            <a:endParaRPr lang="en-US" sz="160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17E38B-3557-426D-C268-4B3CDA3C6D0D}"/>
              </a:ext>
            </a:extLst>
          </p:cNvPr>
          <p:cNvSpPr/>
          <p:nvPr/>
        </p:nvSpPr>
        <p:spPr>
          <a:xfrm>
            <a:off x="3737818" y="213360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</a:t>
            </a:r>
            <a:endParaRPr lang="en-US" sz="160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90CC07BD-6DEC-B1A0-A4AD-1F60104780AA}"/>
              </a:ext>
            </a:extLst>
          </p:cNvPr>
          <p:cNvSpPr/>
          <p:nvPr/>
        </p:nvSpPr>
        <p:spPr>
          <a:xfrm>
            <a:off x="533400" y="24003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 Outages:</a:t>
            </a:r>
            <a:endParaRPr lang="en-US" sz="160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EED7278F-F4F1-7499-2023-A89E119DC59D}"/>
              </a:ext>
            </a:extLst>
          </p:cNvPr>
          <p:cNvSpPr/>
          <p:nvPr/>
        </p:nvSpPr>
        <p:spPr>
          <a:xfrm>
            <a:off x="3216027" y="24003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 (removed)</a:t>
            </a:r>
            <a:endParaRPr lang="en-US" sz="1600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32997CFA-F44A-E630-F4CF-06A1FFC69586}"/>
              </a:ext>
            </a:extLst>
          </p:cNvPr>
          <p:cNvSpPr/>
          <p:nvPr/>
        </p:nvSpPr>
        <p:spPr>
          <a:xfrm>
            <a:off x="533400" y="26670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Final Features:</a:t>
            </a:r>
            <a:endParaRPr lang="en-US" sz="160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55C23811-59BB-6D78-E5D8-DFB054D4681A}"/>
              </a:ext>
            </a:extLst>
          </p:cNvPr>
          <p:cNvSpPr/>
          <p:nvPr/>
        </p:nvSpPr>
        <p:spPr>
          <a:xfrm>
            <a:off x="3737818" y="266700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</a:t>
            </a:r>
            <a:endParaRPr lang="en-US" sz="1600"/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5A1FF5D4-D60B-2018-D6EB-16589A7A7FA4}"/>
              </a:ext>
            </a:extLst>
          </p:cNvPr>
          <p:cNvSpPr/>
          <p:nvPr/>
        </p:nvSpPr>
        <p:spPr>
          <a:xfrm>
            <a:off x="5334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ED5369D3-3ED3-6D7B-2B6D-47FEA745D619}"/>
              </a:ext>
            </a:extLst>
          </p:cNvPr>
          <p:cNvSpPr/>
          <p:nvPr/>
        </p:nvSpPr>
        <p:spPr>
          <a:xfrm>
            <a:off x="647700" y="1485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7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A43AEFB-D010-3E20-32CF-EAE0BDCB2856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796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534C04B-3FC8-C6D7-42DE-E33FD949BEBB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Signal Extraction from Raw Data</a:t>
            </a:r>
            <a:endParaRPr lang="en-US" sz="16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9329169-1945-1B25-E913-B8797023B4C3}"/>
              </a:ext>
            </a:extLst>
          </p:cNvPr>
          <p:cNvSpPr/>
          <p:nvPr/>
        </p:nvSpPr>
        <p:spPr>
          <a:xfrm>
            <a:off x="381000" y="12192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Engineered Features</a:t>
            </a:r>
            <a:endParaRPr lang="en-US" sz="16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929739D-1AD7-5137-1DCD-3660522F2936}"/>
              </a:ext>
            </a:extLst>
          </p:cNvPr>
          <p:cNvSpPr/>
          <p:nvPr/>
        </p:nvSpPr>
        <p:spPr>
          <a:xfrm>
            <a:off x="400050" y="1600200"/>
            <a:ext cx="5581650" cy="723900"/>
          </a:xfrm>
          <a:custGeom>
            <a:avLst/>
            <a:gdLst/>
            <a:ahLst/>
            <a:cxnLst/>
            <a:rect l="l" t="t" r="r" b="b"/>
            <a:pathLst>
              <a:path w="5581650" h="7239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647702"/>
                </a:lnTo>
                <a:cubicBezTo>
                  <a:pt x="5581650" y="689757"/>
                  <a:pt x="5547507" y="723900"/>
                  <a:pt x="55054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0C2AF0B-951F-BEA5-0FF3-F4E68D385F4E}"/>
              </a:ext>
            </a:extLst>
          </p:cNvPr>
          <p:cNvSpPr/>
          <p:nvPr/>
        </p:nvSpPr>
        <p:spPr>
          <a:xfrm>
            <a:off x="533400" y="17145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Net Demand Calculations</a:t>
            </a:r>
            <a:endParaRPr lang="en-US"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4E7AF93-7AE9-74C1-B1E2-AF893C7D48B1}"/>
              </a:ext>
            </a:extLst>
          </p:cNvPr>
          <p:cNvSpPr/>
          <p:nvPr/>
        </p:nvSpPr>
        <p:spPr>
          <a:xfrm>
            <a:off x="533400" y="20574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Captures residual demand after wind generation</a:t>
            </a:r>
            <a:endParaRPr lang="en-US"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7E79DC4-C194-967A-74C2-94990A486472}"/>
              </a:ext>
            </a:extLst>
          </p:cNvPr>
          <p:cNvSpPr/>
          <p:nvPr/>
        </p:nvSpPr>
        <p:spPr>
          <a:xfrm>
            <a:off x="400050" y="2400300"/>
            <a:ext cx="5581650" cy="723900"/>
          </a:xfrm>
          <a:custGeom>
            <a:avLst/>
            <a:gdLst/>
            <a:ahLst/>
            <a:cxnLst/>
            <a:rect l="l" t="t" r="r" b="b"/>
            <a:pathLst>
              <a:path w="5581650" h="7239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647702"/>
                </a:lnTo>
                <a:cubicBezTo>
                  <a:pt x="5581650" y="689757"/>
                  <a:pt x="5547507" y="723900"/>
                  <a:pt x="55054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9E3859E-308A-97BB-A9F7-3FAA8F8E17DB}"/>
              </a:ext>
            </a:extLst>
          </p:cNvPr>
          <p:cNvSpPr/>
          <p:nvPr/>
        </p:nvSpPr>
        <p:spPr>
          <a:xfrm>
            <a:off x="533400" y="25146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GB-SEM Price Spreads</a:t>
            </a:r>
            <a:endParaRPr lang="en-US" sz="160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676C336-C998-3A77-C4B2-D01DA143BDF9}"/>
              </a:ext>
            </a:extLst>
          </p:cNvPr>
          <p:cNvSpPr/>
          <p:nvPr/>
        </p:nvSpPr>
        <p:spPr>
          <a:xfrm>
            <a:off x="533400" y="27051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err="1">
                <a:solidFill>
                  <a:srgbClr val="4A5565"/>
                </a:solidFill>
                <a:latin typeface="MiSans"/>
                <a:ea typeface="MiSans"/>
                <a:cs typeface="MiSans" pitchFamily="34" charset="-120"/>
              </a:rPr>
              <a:t>spread_EPEX</a:t>
            </a:r>
            <a:r>
              <a:rPr lang="en-US" sz="900">
                <a:solidFill>
                  <a:srgbClr val="4A5565"/>
                </a:solidFill>
                <a:latin typeface="MiSans"/>
                <a:ea typeface="MiSans"/>
                <a:cs typeface="MiSans" pitchFamily="34" charset="-120"/>
              </a:rPr>
              <a:t> = GB_DAM_Epex </a:t>
            </a:r>
            <a:endParaRPr lang="en-US" sz="900">
              <a:solidFill>
                <a:srgbClr val="4A5565"/>
              </a:solidFill>
              <a:latin typeface="MiSan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6503284-A043-D4F5-986B-E8282FCEFF59}"/>
              </a:ext>
            </a:extLst>
          </p:cNvPr>
          <p:cNvSpPr/>
          <p:nvPr/>
        </p:nvSpPr>
        <p:spPr>
          <a:xfrm>
            <a:off x="533400" y="28575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Interconnector arbitrage signals</a:t>
            </a:r>
            <a:endParaRPr lang="en-US" sz="160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D8BCF285-C4B3-4226-665D-C062BCA1A775}"/>
              </a:ext>
            </a:extLst>
          </p:cNvPr>
          <p:cNvSpPr/>
          <p:nvPr/>
        </p:nvSpPr>
        <p:spPr>
          <a:xfrm>
            <a:off x="400050" y="3200400"/>
            <a:ext cx="5581650" cy="723900"/>
          </a:xfrm>
          <a:custGeom>
            <a:avLst/>
            <a:gdLst/>
            <a:ahLst/>
            <a:cxnLst/>
            <a:rect l="l" t="t" r="r" b="b"/>
            <a:pathLst>
              <a:path w="5581650" h="7239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647702"/>
                </a:lnTo>
                <a:cubicBezTo>
                  <a:pt x="5581650" y="689757"/>
                  <a:pt x="5547507" y="723900"/>
                  <a:pt x="55054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0DC6DBF-8778-47B5-8934-342F781CE858}"/>
              </a:ext>
            </a:extLst>
          </p:cNvPr>
          <p:cNvSpPr/>
          <p:nvPr/>
        </p:nvSpPr>
        <p:spPr>
          <a:xfrm>
            <a:off x="533400" y="33147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Net Interconnector Flow</a:t>
            </a:r>
            <a:endParaRPr lang="en-US" sz="16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1C390793-D239-92A4-949A-0E522F138D89}"/>
              </a:ext>
            </a:extLst>
          </p:cNvPr>
          <p:cNvSpPr/>
          <p:nvPr/>
        </p:nvSpPr>
        <p:spPr>
          <a:xfrm>
            <a:off x="533400" y="35052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NetICFlow = IE_GB_MW + IE2_GB2_MW - GB_IE_MW - GB2_IE2_MW</a:t>
            </a:r>
            <a:endParaRPr lang="en-US" sz="160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FC7C633B-F582-AF12-13F8-9877E1AEA834}"/>
              </a:ext>
            </a:extLst>
          </p:cNvPr>
          <p:cNvSpPr/>
          <p:nvPr/>
        </p:nvSpPr>
        <p:spPr>
          <a:xfrm>
            <a:off x="533400" y="36576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Cross-border capacity utilization</a:t>
            </a:r>
            <a:endParaRPr lang="en-US" sz="160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11271E5-51A3-5495-BCF4-9BC248E1BA28}"/>
              </a:ext>
            </a:extLst>
          </p:cNvPr>
          <p:cNvSpPr/>
          <p:nvPr/>
        </p:nvSpPr>
        <p:spPr>
          <a:xfrm>
            <a:off x="400050" y="4000500"/>
            <a:ext cx="5581650" cy="723900"/>
          </a:xfrm>
          <a:custGeom>
            <a:avLst/>
            <a:gdLst/>
            <a:ahLst/>
            <a:cxnLst/>
            <a:rect l="l" t="t" r="r" b="b"/>
            <a:pathLst>
              <a:path w="5581650" h="7239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647702"/>
                </a:lnTo>
                <a:cubicBezTo>
                  <a:pt x="5581650" y="689757"/>
                  <a:pt x="5547507" y="723900"/>
                  <a:pt x="55054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7B7A576-3F2D-4AC9-554B-32704F75654A}"/>
              </a:ext>
            </a:extLst>
          </p:cNvPr>
          <p:cNvSpPr/>
          <p:nvPr/>
        </p:nvSpPr>
        <p:spPr>
          <a:xfrm>
            <a:off x="533400" y="41148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Lag Features</a:t>
            </a:r>
            <a:endParaRPr lang="en-US" sz="160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3A707837-78F3-418A-4936-27900EB34E5F}"/>
              </a:ext>
            </a:extLst>
          </p:cNvPr>
          <p:cNvSpPr/>
          <p:nvPr/>
        </p:nvSpPr>
        <p:spPr>
          <a:xfrm>
            <a:off x="533400" y="43053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spread_lag1, spread_lag24: Previous spread values</a:t>
            </a:r>
            <a:endParaRPr lang="en-US" sz="160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F2EAE95F-BB24-97C5-8EAD-AAB66A109317}"/>
              </a:ext>
            </a:extLst>
          </p:cNvPr>
          <p:cNvSpPr/>
          <p:nvPr/>
        </p:nvSpPr>
        <p:spPr>
          <a:xfrm>
            <a:off x="533400" y="44577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Autoregressive price patterns</a:t>
            </a:r>
            <a:endParaRPr lang="en-US" sz="160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8F68C3EC-FDE5-3FFF-96A7-0A7EE2C47470}"/>
              </a:ext>
            </a:extLst>
          </p:cNvPr>
          <p:cNvSpPr/>
          <p:nvPr/>
        </p:nvSpPr>
        <p:spPr>
          <a:xfrm>
            <a:off x="6210300" y="12192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Correlation Matrix</a:t>
            </a:r>
            <a:endParaRPr lang="en-US" sz="1600"/>
          </a:p>
        </p:txBody>
      </p:sp>
      <p:pic>
        <p:nvPicPr>
          <p:cNvPr id="23" name="Image 0" descr="https://kimi-img.moonshot.cn/pub/slides/okc/c3gfoqmvlvzmo/feature_correlation.png">
            <a:extLst>
              <a:ext uri="{FF2B5EF4-FFF2-40B4-BE49-F238E27FC236}">
                <a16:creationId xmlns:a16="http://schemas.microsoft.com/office/drawing/2014/main" id="{E2E740A4-F5CE-7A20-8C18-AE02C187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87" b="21887"/>
          <a:stretch/>
        </p:blipFill>
        <p:spPr>
          <a:xfrm>
            <a:off x="6210300" y="1600200"/>
            <a:ext cx="5581650" cy="2724150"/>
          </a:xfrm>
          <a:prstGeom prst="roundRect">
            <a:avLst>
              <a:gd name="adj" fmla="val 2797"/>
            </a:avLst>
          </a:prstGeom>
        </p:spPr>
      </p:pic>
      <p:sp>
        <p:nvSpPr>
          <p:cNvPr id="24" name="Text 24">
            <a:extLst>
              <a:ext uri="{FF2B5EF4-FFF2-40B4-BE49-F238E27FC236}">
                <a16:creationId xmlns:a16="http://schemas.microsoft.com/office/drawing/2014/main" id="{F00CC331-22FC-93DF-F418-8F71CE71A7E2}"/>
              </a:ext>
            </a:extLst>
          </p:cNvPr>
          <p:cNvSpPr/>
          <p:nvPr/>
        </p:nvSpPr>
        <p:spPr>
          <a:xfrm>
            <a:off x="6210300" y="4419600"/>
            <a:ext cx="5667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5"/>
                </a:solidFill>
                <a:latin typeface="MiSans"/>
                <a:ea typeface="MiSans" pitchFamily="34" charset="-122"/>
                <a:cs typeface="MiSans" pitchFamily="34" charset="-120"/>
              </a:rPr>
              <a:t>Key Finding:</a:t>
            </a:r>
            <a:r>
              <a:rPr lang="en-US" sz="1050" dirty="0">
                <a:solidFill>
                  <a:srgbClr val="4A5565"/>
                </a:solidFill>
                <a:latin typeface="MiSans"/>
                <a:ea typeface="MiSans" pitchFamily="34" charset="-122"/>
                <a:cs typeface="MiSans" pitchFamily="34" charset="-120"/>
              </a:rPr>
              <a:t> GB DAM </a:t>
            </a:r>
            <a:r>
              <a:rPr lang="en-US" sz="1050" dirty="0" err="1">
                <a:solidFill>
                  <a:srgbClr val="4A5565"/>
                </a:solidFill>
                <a:latin typeface="MiSans"/>
                <a:ea typeface="MiSans" pitchFamily="34" charset="-122"/>
                <a:cs typeface="MiSans" pitchFamily="34" charset="-120"/>
              </a:rPr>
              <a:t>Epex</a:t>
            </a:r>
            <a:r>
              <a:rPr lang="en-US" sz="1050" dirty="0">
                <a:solidFill>
                  <a:srgbClr val="4A5565"/>
                </a:solidFill>
                <a:latin typeface="MiSans"/>
                <a:ea typeface="MiSans" pitchFamily="34" charset="-122"/>
                <a:cs typeface="MiSans" pitchFamily="34" charset="-120"/>
              </a:rPr>
              <a:t> shows r=0.99 correlation with SEM, indicating strong market integration.</a:t>
            </a:r>
            <a:endParaRPr lang="en-US" sz="1600" dirty="0">
              <a:latin typeface="MiSans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F6458AA-75A3-F123-5D21-7130DA93B81C}"/>
              </a:ext>
            </a:extLst>
          </p:cNvPr>
          <p:cNvSpPr/>
          <p:nvPr/>
        </p:nvSpPr>
        <p:spPr>
          <a:xfrm>
            <a:off x="381000" y="49911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64DE947B-9365-74E1-4013-8B5E462C49DD}"/>
              </a:ext>
            </a:extLst>
          </p:cNvPr>
          <p:cNvSpPr/>
          <p:nvPr/>
        </p:nvSpPr>
        <p:spPr>
          <a:xfrm>
            <a:off x="533400" y="5143500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/>
                <a:ea typeface="MiSans" pitchFamily="34" charset="-122"/>
                <a:cs typeface="MiSans" pitchFamily="34" charset="-120"/>
              </a:rPr>
              <a:t>Feature Importance Insight:</a:t>
            </a:r>
            <a:r>
              <a:rPr lang="en-US" sz="1050" dirty="0">
                <a:solidFill>
                  <a:srgbClr val="FFFFFF"/>
                </a:solidFill>
                <a:latin typeface="MiSans"/>
                <a:ea typeface="MiSans" pitchFamily="34" charset="-122"/>
                <a:cs typeface="MiSans" pitchFamily="34" charset="-120"/>
              </a:rPr>
              <a:t> Net demand features (r=0.65 ) and GB market prices are the strongest predictors. Wind forecasts show negative correlation (r=-0.42 to -0.48)—as wind increases, prices decrease.</a:t>
            </a:r>
            <a:endParaRPr lang="en-US" sz="1600" dirty="0">
              <a:latin typeface="MiSans"/>
            </a:endParaRP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4E0BF4D7-BE00-4C83-311B-120324AEBC7F}"/>
              </a:ext>
            </a:extLst>
          </p:cNvPr>
          <p:cNvSpPr/>
          <p:nvPr/>
        </p:nvSpPr>
        <p:spPr>
          <a:xfrm>
            <a:off x="528637" y="1897092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NetDemand_DAM = ISEMDEMAND_DAM - Meteo_ISEMWIND_DAM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7717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639E40D-4B97-D734-9BCF-7075BFB07C98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FOUNDATIONS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D57CB4B-2EC1-B047-09C8-5938E1863E78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Understanding the Models</a:t>
            </a:r>
            <a:endParaRPr lang="en-US" sz="16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011CE27-0CDF-7E65-2E59-800B2431FCA8}"/>
              </a:ext>
            </a:extLst>
          </p:cNvPr>
          <p:cNvSpPr/>
          <p:nvPr/>
        </p:nvSpPr>
        <p:spPr>
          <a:xfrm>
            <a:off x="381000" y="1181100"/>
            <a:ext cx="5619750" cy="2733675"/>
          </a:xfrm>
          <a:custGeom>
            <a:avLst/>
            <a:gdLst/>
            <a:ahLst/>
            <a:cxnLst/>
            <a:rect l="l" t="t" r="r" b="b"/>
            <a:pathLst>
              <a:path w="5619750" h="2733675">
                <a:moveTo>
                  <a:pt x="76188" y="0"/>
                </a:moveTo>
                <a:lnTo>
                  <a:pt x="5543562" y="0"/>
                </a:lnTo>
                <a:cubicBezTo>
                  <a:pt x="5585640" y="0"/>
                  <a:pt x="5619750" y="34110"/>
                  <a:pt x="5619750" y="76188"/>
                </a:cubicBezTo>
                <a:lnTo>
                  <a:pt x="5619750" y="2657487"/>
                </a:lnTo>
                <a:cubicBezTo>
                  <a:pt x="5619750" y="2699565"/>
                  <a:pt x="5585640" y="2733675"/>
                  <a:pt x="5543562" y="2733675"/>
                </a:cubicBezTo>
                <a:lnTo>
                  <a:pt x="76188" y="2733675"/>
                </a:lnTo>
                <a:cubicBezTo>
                  <a:pt x="34110" y="2733675"/>
                  <a:pt x="0" y="2699565"/>
                  <a:pt x="0" y="2657487"/>
                </a:cubicBezTo>
                <a:lnTo>
                  <a:pt x="0" y="76188"/>
                </a:lnTo>
                <a:cubicBezTo>
                  <a:pt x="0" y="34138"/>
                  <a:pt x="34138" y="0"/>
                  <a:pt x="76188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587E89C-BA0F-3058-1FBB-2C1C2A85C6D6}"/>
              </a:ext>
            </a:extLst>
          </p:cNvPr>
          <p:cNvSpPr/>
          <p:nvPr/>
        </p:nvSpPr>
        <p:spPr>
          <a:xfrm>
            <a:off x="53340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6117366-7A9C-9C8E-DD8B-63AEEED9DDC9}"/>
              </a:ext>
            </a:extLst>
          </p:cNvPr>
          <p:cNvSpPr/>
          <p:nvPr/>
        </p:nvSpPr>
        <p:spPr>
          <a:xfrm>
            <a:off x="651272" y="1438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6427E81-1118-C08A-1290-2D2B03494ED2}"/>
              </a:ext>
            </a:extLst>
          </p:cNvPr>
          <p:cNvSpPr/>
          <p:nvPr/>
        </p:nvSpPr>
        <p:spPr>
          <a:xfrm>
            <a:off x="1028700" y="1443404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 Gradient Boosting</a:t>
            </a:r>
            <a:endParaRPr lang="en-US" sz="16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07981C1-3D82-7D8D-AA1E-9F647368DCD6}"/>
              </a:ext>
            </a:extLst>
          </p:cNvPr>
          <p:cNvSpPr/>
          <p:nvPr/>
        </p:nvSpPr>
        <p:spPr>
          <a:xfrm>
            <a:off x="533400" y="1828800"/>
            <a:ext cx="538162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 Boosting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an ensemble technique that builds models sequentially, with each new model correcting errors made by previous ones. </a:t>
            </a: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HistGradientBoosting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(Histogram-based) is an </a:t>
            </a:r>
            <a:r>
              <a:rPr lang="en-US" sz="105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optimised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implementation that transforms continuous features into discrete feature into histogram bins for faster training.</a:t>
            </a:r>
            <a:endParaRPr lang="en-US" sz="160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36CE638F-4672-62DA-5979-FF32992AEB60}"/>
              </a:ext>
            </a:extLst>
          </p:cNvPr>
          <p:cNvSpPr/>
          <p:nvPr/>
        </p:nvSpPr>
        <p:spPr>
          <a:xfrm>
            <a:off x="382465" y="4589217"/>
            <a:ext cx="5600700" cy="1023570"/>
          </a:xfrm>
          <a:custGeom>
            <a:avLst/>
            <a:gdLst/>
            <a:ahLst/>
            <a:cxnLst/>
            <a:rect l="l" t="t" r="r" b="b"/>
            <a:pathLst>
              <a:path w="5600700" h="9144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838203"/>
                </a:lnTo>
                <a:cubicBezTo>
                  <a:pt x="5600700" y="880285"/>
                  <a:pt x="5566585" y="914400"/>
                  <a:pt x="55245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C4EA3299-649F-3D6C-61BA-E58ACD8732BB}"/>
              </a:ext>
            </a:extLst>
          </p:cNvPr>
          <p:cNvSpPr/>
          <p:nvPr/>
        </p:nvSpPr>
        <p:spPr>
          <a:xfrm>
            <a:off x="504092" y="4170117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 &amp; Limitations:</a:t>
            </a:r>
            <a:endParaRPr lang="en-US" sz="1600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A9074590-8FB3-4094-B809-791D06116593}"/>
              </a:ext>
            </a:extLst>
          </p:cNvPr>
          <p:cNvSpPr/>
          <p:nvPr/>
        </p:nvSpPr>
        <p:spPr>
          <a:xfrm>
            <a:off x="515815" y="4645634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Pros:</a:t>
            </a: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Handles complex non-linear relationships in price data. Captures interactions between wind forecasts, demand, and interconnector flows that linear models miss. Regularization (L2) prevents overfitting to market noise.</a:t>
            </a:r>
          </a:p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Cons:</a:t>
            </a: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Harder to interpret than Linear models such as Logistic Regression, requires careful parameter tuning and can overfit without proper </a:t>
            </a:r>
            <a:r>
              <a:rPr lang="en-US" sz="900" err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regularisation</a:t>
            </a: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3F5F57AC-240D-E920-D451-060345C2152C}"/>
              </a:ext>
            </a:extLst>
          </p:cNvPr>
          <p:cNvSpPr/>
          <p:nvPr/>
        </p:nvSpPr>
        <p:spPr>
          <a:xfrm>
            <a:off x="6191250" y="1181099"/>
            <a:ext cx="5619750" cy="2733675"/>
          </a:xfrm>
          <a:custGeom>
            <a:avLst/>
            <a:gdLst/>
            <a:ahLst/>
            <a:cxnLst/>
            <a:rect l="l" t="t" r="r" b="b"/>
            <a:pathLst>
              <a:path w="5619750" h="2514600">
                <a:moveTo>
                  <a:pt x="76192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2438408"/>
                </a:lnTo>
                <a:cubicBezTo>
                  <a:pt x="5619750" y="2480488"/>
                  <a:pt x="5585638" y="2514600"/>
                  <a:pt x="554355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158CB59-DDE2-D73F-2EAC-59A8FB81DCF3}"/>
              </a:ext>
            </a:extLst>
          </p:cNvPr>
          <p:cNvSpPr/>
          <p:nvPr/>
        </p:nvSpPr>
        <p:spPr>
          <a:xfrm>
            <a:off x="634365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CA400FD8-2039-279C-7960-D297339FD0B6}"/>
              </a:ext>
            </a:extLst>
          </p:cNvPr>
          <p:cNvSpPr/>
          <p:nvPr/>
        </p:nvSpPr>
        <p:spPr>
          <a:xfrm>
            <a:off x="6450806" y="1438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6EE54406-D294-3F74-0A38-8391942F3B50}"/>
              </a:ext>
            </a:extLst>
          </p:cNvPr>
          <p:cNvSpPr/>
          <p:nvPr/>
        </p:nvSpPr>
        <p:spPr>
          <a:xfrm>
            <a:off x="6838950" y="1478573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Logistic Regression</a:t>
            </a:r>
            <a:endParaRPr lang="en-US" sz="160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3ED83F52-67EC-EEB2-6117-E82E909B379F}"/>
              </a:ext>
            </a:extLst>
          </p:cNvPr>
          <p:cNvSpPr/>
          <p:nvPr/>
        </p:nvSpPr>
        <p:spPr>
          <a:xfrm>
            <a:off x="6343650" y="1828800"/>
            <a:ext cx="53816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Regression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 linear classification algorithm that predicts the probability of a binary (or multi-class) outcome. It models the relationship between input features and the log-odds of the target variable using a sigmoid function.</a:t>
            </a:r>
            <a:endParaRPr lang="en-US" sz="1600"/>
          </a:p>
        </p:txBody>
      </p:sp>
      <p:sp>
        <p:nvSpPr>
          <p:cNvPr id="19" name="Shape 28">
            <a:extLst>
              <a:ext uri="{FF2B5EF4-FFF2-40B4-BE49-F238E27FC236}">
                <a16:creationId xmlns:a16="http://schemas.microsoft.com/office/drawing/2014/main" id="{9E82D3E0-499F-01D5-E212-630BDBEF6921}"/>
              </a:ext>
            </a:extLst>
          </p:cNvPr>
          <p:cNvSpPr/>
          <p:nvPr/>
        </p:nvSpPr>
        <p:spPr>
          <a:xfrm>
            <a:off x="6210300" y="4172315"/>
            <a:ext cx="5600700" cy="1023570"/>
          </a:xfrm>
          <a:custGeom>
            <a:avLst/>
            <a:gdLst/>
            <a:ahLst/>
            <a:cxnLst/>
            <a:rect l="l" t="t" r="r" b="b"/>
            <a:pathLst>
              <a:path w="5600700" h="9144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838203"/>
                </a:lnTo>
                <a:cubicBezTo>
                  <a:pt x="5600700" y="880285"/>
                  <a:pt x="5566585" y="914400"/>
                  <a:pt x="5524503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455BEA17-47F6-057E-858B-C86C266457AD}"/>
              </a:ext>
            </a:extLst>
          </p:cNvPr>
          <p:cNvSpPr/>
          <p:nvPr/>
        </p:nvSpPr>
        <p:spPr>
          <a:xfrm>
            <a:off x="6343650" y="4286615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 &amp; Limitations:</a:t>
            </a:r>
            <a:endParaRPr lang="en-US" sz="1600"/>
          </a:p>
        </p:txBody>
      </p:sp>
      <p:sp>
        <p:nvSpPr>
          <p:cNvPr id="21" name="Text 31">
            <a:extLst>
              <a:ext uri="{FF2B5EF4-FFF2-40B4-BE49-F238E27FC236}">
                <a16:creationId xmlns:a16="http://schemas.microsoft.com/office/drawing/2014/main" id="{7937B4B1-2B16-3951-F6EB-DC36F0B51DE1}"/>
              </a:ext>
            </a:extLst>
          </p:cNvPr>
          <p:cNvSpPr/>
          <p:nvPr/>
        </p:nvSpPr>
        <p:spPr>
          <a:xfrm>
            <a:off x="6343650" y="4586286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Pros:</a:t>
            </a: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Highly interpretable (each feature has a coefficient), fast training, works well with linearly separable data. </a:t>
            </a:r>
            <a:r>
              <a:rPr lang="en-US" sz="900" b="1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Cons:</a:t>
            </a:r>
            <a:r>
              <a:rPr lang="en-US" sz="9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Cannot capture complex feature interactions; assumes linear decision boundary which may not fit volatile energy markets.</a:t>
            </a:r>
            <a:endParaRPr lang="en-US" sz="1600"/>
          </a:p>
        </p:txBody>
      </p:sp>
      <p:sp>
        <p:nvSpPr>
          <p:cNvPr id="22" name="Shape 32">
            <a:extLst>
              <a:ext uri="{FF2B5EF4-FFF2-40B4-BE49-F238E27FC236}">
                <a16:creationId xmlns:a16="http://schemas.microsoft.com/office/drawing/2014/main" id="{FAFE43A3-2F96-C6B6-D7C8-4904CED28D99}"/>
              </a:ext>
            </a:extLst>
          </p:cNvPr>
          <p:cNvSpPr/>
          <p:nvPr/>
        </p:nvSpPr>
        <p:spPr>
          <a:xfrm>
            <a:off x="400050" y="5453426"/>
            <a:ext cx="11410950" cy="609600"/>
          </a:xfrm>
          <a:custGeom>
            <a:avLst/>
            <a:gdLst/>
            <a:ahLst/>
            <a:cxnLst/>
            <a:rect l="l" t="t" r="r" b="b"/>
            <a:pathLst>
              <a:path w="11410950" h="6096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533400"/>
                </a:lnTo>
                <a:cubicBezTo>
                  <a:pt x="11410950" y="575456"/>
                  <a:pt x="11376806" y="609600"/>
                  <a:pt x="113347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34">
            <a:extLst>
              <a:ext uri="{FF2B5EF4-FFF2-40B4-BE49-F238E27FC236}">
                <a16:creationId xmlns:a16="http://schemas.microsoft.com/office/drawing/2014/main" id="{CDF02101-2DB6-54D2-E87B-3953E1173C6F}"/>
              </a:ext>
            </a:extLst>
          </p:cNvPr>
          <p:cNvSpPr/>
          <p:nvPr/>
        </p:nvSpPr>
        <p:spPr>
          <a:xfrm>
            <a:off x="533400" y="5567726"/>
            <a:ext cx="11229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Comparison Context:</a:t>
            </a:r>
            <a:r>
              <a:rPr lang="en-US" sz="105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HistGradientBoosting achieved 81.5% accuracy vs. Logistic Regression's 44.6% on DAM-IDA1. The 37 percentage point difference demonstrates that energy price spreads exhibit complex, non-linear patterns better captured by ensemble tree methods.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7693B0F-D0A4-54FA-F429-7F23AA98C06F}"/>
              </a:ext>
            </a:extLst>
          </p:cNvPr>
          <p:cNvSpPr/>
          <p:nvPr/>
        </p:nvSpPr>
        <p:spPr>
          <a:xfrm>
            <a:off x="533400" y="2845593"/>
            <a:ext cx="5314950" cy="952500"/>
          </a:xfrm>
          <a:custGeom>
            <a:avLst/>
            <a:gdLst/>
            <a:ahLst/>
            <a:cxnLst/>
            <a:rect l="l" t="t" r="r" b="b"/>
            <a:pathLst>
              <a:path w="5314950" h="952500">
                <a:moveTo>
                  <a:pt x="38100" y="0"/>
                </a:moveTo>
                <a:lnTo>
                  <a:pt x="5276850" y="0"/>
                </a:lnTo>
                <a:cubicBezTo>
                  <a:pt x="5297878" y="0"/>
                  <a:pt x="5314950" y="17072"/>
                  <a:pt x="5314950" y="38100"/>
                </a:cubicBezTo>
                <a:lnTo>
                  <a:pt x="5314950" y="914400"/>
                </a:lnTo>
                <a:cubicBezTo>
                  <a:pt x="5314950" y="935428"/>
                  <a:pt x="5297878" y="952500"/>
                  <a:pt x="52768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DB85FED-F119-FEB7-5947-CAECF752393A}"/>
              </a:ext>
            </a:extLst>
          </p:cNvPr>
          <p:cNvSpPr/>
          <p:nvPr/>
        </p:nvSpPr>
        <p:spPr>
          <a:xfrm>
            <a:off x="6353175" y="2845593"/>
            <a:ext cx="5314950" cy="952500"/>
          </a:xfrm>
          <a:custGeom>
            <a:avLst/>
            <a:gdLst/>
            <a:ahLst/>
            <a:cxnLst/>
            <a:rect l="l" t="t" r="r" b="b"/>
            <a:pathLst>
              <a:path w="5314950" h="952500">
                <a:moveTo>
                  <a:pt x="38100" y="0"/>
                </a:moveTo>
                <a:lnTo>
                  <a:pt x="5276850" y="0"/>
                </a:lnTo>
                <a:cubicBezTo>
                  <a:pt x="5297878" y="0"/>
                  <a:pt x="5314950" y="17072"/>
                  <a:pt x="5314950" y="38100"/>
                </a:cubicBezTo>
                <a:lnTo>
                  <a:pt x="5314950" y="914400"/>
                </a:lnTo>
                <a:cubicBezTo>
                  <a:pt x="5314950" y="935428"/>
                  <a:pt x="5297878" y="952500"/>
                  <a:pt x="52768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F4012B1-875A-0651-5BF8-10CF380BC6FD}"/>
              </a:ext>
            </a:extLst>
          </p:cNvPr>
          <p:cNvSpPr/>
          <p:nvPr/>
        </p:nvSpPr>
        <p:spPr>
          <a:xfrm>
            <a:off x="609600" y="288607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latin typeface="MiSans" pitchFamily="34" charset="0"/>
                <a:ea typeface="MiSans" pitchFamily="34" charset="-122"/>
                <a:cs typeface="MiSans" pitchFamily="34" charset="-120"/>
              </a:rPr>
              <a:t>How It Works:</a:t>
            </a:r>
            <a:endParaRPr lang="en-US" sz="160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153FADB-9AFC-2692-0031-E3826BC7B21F}"/>
              </a:ext>
            </a:extLst>
          </p:cNvPr>
          <p:cNvSpPr/>
          <p:nvPr/>
        </p:nvSpPr>
        <p:spPr>
          <a:xfrm>
            <a:off x="609600" y="3076575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1. Start with a simple prediction (e.g., mean spread)</a:t>
            </a:r>
            <a:endParaRPr lang="en-US" sz="16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0680C28-16F9-339B-0001-60F057609683}"/>
              </a:ext>
            </a:extLst>
          </p:cNvPr>
          <p:cNvSpPr/>
          <p:nvPr/>
        </p:nvSpPr>
        <p:spPr>
          <a:xfrm>
            <a:off x="609600" y="3228975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2. Train a decision tree on prediction errors (residuals)</a:t>
            </a:r>
            <a:endParaRPr lang="en-US" sz="160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8FD5A84-4DB0-ACC1-3237-A954644A9AD2}"/>
              </a:ext>
            </a:extLst>
          </p:cNvPr>
          <p:cNvSpPr/>
          <p:nvPr/>
        </p:nvSpPr>
        <p:spPr>
          <a:xfrm>
            <a:off x="609600" y="3381375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3. Update prediction: New = Old + learning_rate × Tree</a:t>
            </a:r>
            <a:endParaRPr lang="en-US" sz="16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0F3D921-71F2-4F04-322D-9DD552C4A20F}"/>
              </a:ext>
            </a:extLst>
          </p:cNvPr>
          <p:cNvSpPr/>
          <p:nvPr/>
        </p:nvSpPr>
        <p:spPr>
          <a:xfrm>
            <a:off x="609600" y="3533775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4. Repeat for N iterations (300 in our model)</a:t>
            </a:r>
            <a:endParaRPr lang="en-US" sz="160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C886EAAB-E26C-6131-6C3B-C3FC00FAEA55}"/>
              </a:ext>
            </a:extLst>
          </p:cNvPr>
          <p:cNvSpPr/>
          <p:nvPr/>
        </p:nvSpPr>
        <p:spPr>
          <a:xfrm>
            <a:off x="6429375" y="288003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latin typeface="MiSans" pitchFamily="34" charset="0"/>
                <a:ea typeface="MiSans" pitchFamily="34" charset="-122"/>
                <a:cs typeface="MiSans" pitchFamily="34" charset="-120"/>
              </a:rPr>
              <a:t>How It Works:</a:t>
            </a:r>
            <a:endParaRPr lang="en-US" sz="16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163E581F-4711-FD46-C83C-3DA9E5D7F722}"/>
              </a:ext>
            </a:extLst>
          </p:cNvPr>
          <p:cNvSpPr/>
          <p:nvPr/>
        </p:nvSpPr>
        <p:spPr>
          <a:xfrm>
            <a:off x="6429375" y="3070530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1. Calculate weighted sum: z = w₁x₁ + w₂x₂ + ... + b</a:t>
            </a:r>
            <a:endParaRPr lang="en-US" sz="160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9E226943-4960-8EF0-7CAB-14BED6477F6A}"/>
              </a:ext>
            </a:extLst>
          </p:cNvPr>
          <p:cNvSpPr/>
          <p:nvPr/>
        </p:nvSpPr>
        <p:spPr>
          <a:xfrm>
            <a:off x="6429375" y="3222930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2. Apply sigmoid: P = 1 / (1 + e⁻ᶻ) → output 0 to 1</a:t>
            </a:r>
            <a:endParaRPr lang="en-US" sz="160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33D95491-84EC-4760-5907-E15EC1F968AE}"/>
              </a:ext>
            </a:extLst>
          </p:cNvPr>
          <p:cNvSpPr/>
          <p:nvPr/>
        </p:nvSpPr>
        <p:spPr>
          <a:xfrm>
            <a:off x="6429375" y="3375330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3. Classify based on threshold (e.g., P &gt; 0.5 → LONG)</a:t>
            </a:r>
            <a:endParaRPr lang="en-US" sz="160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21BC921D-E2E6-ABB1-5656-DB39E272EF7F}"/>
              </a:ext>
            </a:extLst>
          </p:cNvPr>
          <p:cNvSpPr/>
          <p:nvPr/>
        </p:nvSpPr>
        <p:spPr>
          <a:xfrm>
            <a:off x="6429375" y="3527730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>
                <a:latin typeface="MiSans" pitchFamily="34" charset="0"/>
                <a:ea typeface="MiSans" pitchFamily="34" charset="-122"/>
                <a:cs typeface="MiSans" pitchFamily="34" charset="-120"/>
              </a:rPr>
              <a:t>4. Learn weights via maximum likelihood estimation</a:t>
            </a:r>
            <a:endParaRPr lang="en-US" sz="160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E7CFECFE-DECE-F134-EAAE-EAEE7ACF04F0}"/>
              </a:ext>
            </a:extLst>
          </p:cNvPr>
          <p:cNvSpPr/>
          <p:nvPr/>
        </p:nvSpPr>
        <p:spPr>
          <a:xfrm flipH="1">
            <a:off x="405765" y="4176344"/>
            <a:ext cx="45719" cy="1005254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E5E6F615-02AE-8892-191F-DE7C5B180D70}"/>
              </a:ext>
            </a:extLst>
          </p:cNvPr>
          <p:cNvSpPr/>
          <p:nvPr/>
        </p:nvSpPr>
        <p:spPr>
          <a:xfrm flipH="1">
            <a:off x="6257923" y="4185502"/>
            <a:ext cx="45719" cy="1005254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5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8">
            <a:extLst>
              <a:ext uri="{FF2B5EF4-FFF2-40B4-BE49-F238E27FC236}">
                <a16:creationId xmlns:a16="http://schemas.microsoft.com/office/drawing/2014/main" id="{5DF61B5F-967A-7C1C-29EF-E7A6C4803D16}"/>
              </a:ext>
            </a:extLst>
          </p:cNvPr>
          <p:cNvSpPr/>
          <p:nvPr/>
        </p:nvSpPr>
        <p:spPr>
          <a:xfrm>
            <a:off x="370578" y="3803023"/>
            <a:ext cx="5614249" cy="254422"/>
          </a:xfrm>
          <a:custGeom>
            <a:avLst/>
            <a:gdLst/>
            <a:ahLst/>
            <a:cxnLst/>
            <a:rect l="l" t="t" r="r" b="b"/>
            <a:pathLst>
              <a:path w="5614249" h="555866">
                <a:moveTo>
                  <a:pt x="74114" y="0"/>
                </a:moveTo>
                <a:lnTo>
                  <a:pt x="5540136" y="0"/>
                </a:lnTo>
                <a:cubicBezTo>
                  <a:pt x="5581067" y="0"/>
                  <a:pt x="5614249" y="33182"/>
                  <a:pt x="5614249" y="74114"/>
                </a:cubicBezTo>
                <a:lnTo>
                  <a:pt x="5614249" y="481753"/>
                </a:lnTo>
                <a:cubicBezTo>
                  <a:pt x="5614249" y="522684"/>
                  <a:pt x="5581067" y="555866"/>
                  <a:pt x="5540136" y="555866"/>
                </a:cubicBezTo>
                <a:lnTo>
                  <a:pt x="74114" y="555866"/>
                </a:lnTo>
                <a:cubicBezTo>
                  <a:pt x="33209" y="555866"/>
                  <a:pt x="0" y="522657"/>
                  <a:pt x="0" y="481753"/>
                </a:cubicBezTo>
                <a:lnTo>
                  <a:pt x="0" y="74114"/>
                </a:lnTo>
                <a:cubicBezTo>
                  <a:pt x="0" y="33182"/>
                  <a:pt x="33182" y="0"/>
                  <a:pt x="7411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BBBF3011-2C0B-B1B9-2D9B-98D4EA8802F7}"/>
              </a:ext>
            </a:extLst>
          </p:cNvPr>
          <p:cNvSpPr/>
          <p:nvPr/>
        </p:nvSpPr>
        <p:spPr>
          <a:xfrm>
            <a:off x="370578" y="3368942"/>
            <a:ext cx="5614249" cy="254422"/>
          </a:xfrm>
          <a:custGeom>
            <a:avLst/>
            <a:gdLst/>
            <a:ahLst/>
            <a:cxnLst/>
            <a:rect l="l" t="t" r="r" b="b"/>
            <a:pathLst>
              <a:path w="5614249" h="555866">
                <a:moveTo>
                  <a:pt x="74114" y="0"/>
                </a:moveTo>
                <a:lnTo>
                  <a:pt x="5540136" y="0"/>
                </a:lnTo>
                <a:cubicBezTo>
                  <a:pt x="5581067" y="0"/>
                  <a:pt x="5614249" y="33182"/>
                  <a:pt x="5614249" y="74114"/>
                </a:cubicBezTo>
                <a:lnTo>
                  <a:pt x="5614249" y="481753"/>
                </a:lnTo>
                <a:cubicBezTo>
                  <a:pt x="5614249" y="522684"/>
                  <a:pt x="5581067" y="555866"/>
                  <a:pt x="5540136" y="555866"/>
                </a:cubicBezTo>
                <a:lnTo>
                  <a:pt x="74114" y="555866"/>
                </a:lnTo>
                <a:cubicBezTo>
                  <a:pt x="33209" y="555866"/>
                  <a:pt x="0" y="522657"/>
                  <a:pt x="0" y="481753"/>
                </a:cubicBezTo>
                <a:lnTo>
                  <a:pt x="0" y="74114"/>
                </a:lnTo>
                <a:cubicBezTo>
                  <a:pt x="0" y="33182"/>
                  <a:pt x="33182" y="0"/>
                  <a:pt x="7411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B12385E-97D5-DD19-63C4-C798866433DD}"/>
              </a:ext>
            </a:extLst>
          </p:cNvPr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51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ARCHITECTURE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55AD2D7-66F7-AE3E-17A2-148423C7A423}"/>
              </a:ext>
            </a:extLst>
          </p:cNvPr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Ensemble Classification Approach</a:t>
            </a:r>
            <a:endParaRPr lang="en-US" sz="16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931C720-61F7-F17E-9494-E6A262561888}"/>
              </a:ext>
            </a:extLst>
          </p:cNvPr>
          <p:cNvSpPr/>
          <p:nvPr/>
        </p:nvSpPr>
        <p:spPr>
          <a:xfrm>
            <a:off x="370578" y="1185848"/>
            <a:ext cx="5697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 Framework</a:t>
            </a:r>
            <a:endParaRPr lang="en-US" sz="16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B5E24A2-300E-2BC9-0459-58559A962153}"/>
              </a:ext>
            </a:extLst>
          </p:cNvPr>
          <p:cNvSpPr/>
          <p:nvPr/>
        </p:nvSpPr>
        <p:spPr>
          <a:xfrm>
            <a:off x="370578" y="1556426"/>
            <a:ext cx="5614249" cy="1222906"/>
          </a:xfrm>
          <a:custGeom>
            <a:avLst/>
            <a:gdLst/>
            <a:ahLst/>
            <a:cxnLst/>
            <a:rect l="l" t="t" r="r" b="b"/>
            <a:pathLst>
              <a:path w="5614249" h="1222906">
                <a:moveTo>
                  <a:pt x="74120" y="0"/>
                </a:moveTo>
                <a:lnTo>
                  <a:pt x="5540129" y="0"/>
                </a:lnTo>
                <a:cubicBezTo>
                  <a:pt x="5581064" y="0"/>
                  <a:pt x="5614249" y="33185"/>
                  <a:pt x="5614249" y="74120"/>
                </a:cubicBezTo>
                <a:lnTo>
                  <a:pt x="5614249" y="1148785"/>
                </a:lnTo>
                <a:cubicBezTo>
                  <a:pt x="5614249" y="1189721"/>
                  <a:pt x="5581064" y="1222906"/>
                  <a:pt x="5540129" y="1222906"/>
                </a:cubicBezTo>
                <a:lnTo>
                  <a:pt x="74120" y="1222906"/>
                </a:lnTo>
                <a:cubicBezTo>
                  <a:pt x="33185" y="1222906"/>
                  <a:pt x="0" y="1189721"/>
                  <a:pt x="0" y="1148785"/>
                </a:cubicBezTo>
                <a:lnTo>
                  <a:pt x="0" y="74120"/>
                </a:lnTo>
                <a:cubicBezTo>
                  <a:pt x="0" y="33185"/>
                  <a:pt x="33185" y="0"/>
                  <a:pt x="7412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33C4F8E-6038-5A08-064B-1550DA08A960}"/>
              </a:ext>
            </a:extLst>
          </p:cNvPr>
          <p:cNvSpPr/>
          <p:nvPr/>
        </p:nvSpPr>
        <p:spPr>
          <a:xfrm>
            <a:off x="518809" y="1704657"/>
            <a:ext cx="538263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Variable: Spread Direction</a:t>
            </a:r>
            <a:endParaRPr lang="en-US" sz="16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9FC5537-FA33-B4B4-7601-2DE47AB7E4BD}"/>
              </a:ext>
            </a:extLst>
          </p:cNvPr>
          <p:cNvSpPr/>
          <p:nvPr/>
        </p:nvSpPr>
        <p:spPr>
          <a:xfrm>
            <a:off x="518809" y="1964061"/>
            <a:ext cx="1723185" cy="667040"/>
          </a:xfrm>
          <a:custGeom>
            <a:avLst/>
            <a:gdLst/>
            <a:ahLst/>
            <a:cxnLst/>
            <a:rect l="l" t="t" r="r" b="b"/>
            <a:pathLst>
              <a:path w="1723185" h="667040">
                <a:moveTo>
                  <a:pt x="37061" y="0"/>
                </a:moveTo>
                <a:lnTo>
                  <a:pt x="1686125" y="0"/>
                </a:lnTo>
                <a:cubicBezTo>
                  <a:pt x="1706593" y="0"/>
                  <a:pt x="1723185" y="16593"/>
                  <a:pt x="1723185" y="37061"/>
                </a:cubicBezTo>
                <a:lnTo>
                  <a:pt x="1723185" y="629979"/>
                </a:lnTo>
                <a:cubicBezTo>
                  <a:pt x="1723185" y="650447"/>
                  <a:pt x="1706593" y="667040"/>
                  <a:pt x="1686125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80C2382-890B-226C-523E-8711219BC117}"/>
              </a:ext>
            </a:extLst>
          </p:cNvPr>
          <p:cNvSpPr/>
          <p:nvPr/>
        </p:nvSpPr>
        <p:spPr>
          <a:xfrm>
            <a:off x="560498" y="2038176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</a:t>
            </a:r>
            <a:endParaRPr lang="en-US" sz="16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D2F4750-2A7D-726E-6368-9047566A993E}"/>
              </a:ext>
            </a:extLst>
          </p:cNvPr>
          <p:cNvSpPr/>
          <p:nvPr/>
        </p:nvSpPr>
        <p:spPr>
          <a:xfrm>
            <a:off x="560498" y="2223465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</a:t>
            </a:r>
            <a:endParaRPr lang="en-US" sz="16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6E0B782-87AE-EE87-CDA9-F5CA230AF70A}"/>
              </a:ext>
            </a:extLst>
          </p:cNvPr>
          <p:cNvSpPr/>
          <p:nvPr/>
        </p:nvSpPr>
        <p:spPr>
          <a:xfrm>
            <a:off x="565131" y="2408754"/>
            <a:ext cx="163054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Spread &gt; +€50</a:t>
            </a:r>
            <a:endParaRPr lang="en-US" sz="16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B0B9526-0079-0A1E-2749-A5CD64423626}"/>
              </a:ext>
            </a:extLst>
          </p:cNvPr>
          <p:cNvSpPr/>
          <p:nvPr/>
        </p:nvSpPr>
        <p:spPr>
          <a:xfrm>
            <a:off x="2315386" y="1964061"/>
            <a:ext cx="1723185" cy="667040"/>
          </a:xfrm>
          <a:custGeom>
            <a:avLst/>
            <a:gdLst/>
            <a:ahLst/>
            <a:cxnLst/>
            <a:rect l="l" t="t" r="r" b="b"/>
            <a:pathLst>
              <a:path w="1723185" h="667040">
                <a:moveTo>
                  <a:pt x="37061" y="0"/>
                </a:moveTo>
                <a:lnTo>
                  <a:pt x="1686125" y="0"/>
                </a:lnTo>
                <a:cubicBezTo>
                  <a:pt x="1706593" y="0"/>
                  <a:pt x="1723185" y="16593"/>
                  <a:pt x="1723185" y="37061"/>
                </a:cubicBezTo>
                <a:lnTo>
                  <a:pt x="1723185" y="629979"/>
                </a:lnTo>
                <a:cubicBezTo>
                  <a:pt x="1723185" y="650447"/>
                  <a:pt x="1706593" y="667040"/>
                  <a:pt x="1686125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603044A-9A3B-EE22-14F3-CCAB8E48941B}"/>
              </a:ext>
            </a:extLst>
          </p:cNvPr>
          <p:cNvSpPr/>
          <p:nvPr/>
        </p:nvSpPr>
        <p:spPr>
          <a:xfrm>
            <a:off x="2357076" y="2223465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NEUTRAL</a:t>
            </a:r>
            <a:endParaRPr lang="en-US" sz="16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E19E65-85C6-445A-1339-C50D09D3B8D9}"/>
              </a:ext>
            </a:extLst>
          </p:cNvPr>
          <p:cNvSpPr/>
          <p:nvPr/>
        </p:nvSpPr>
        <p:spPr>
          <a:xfrm>
            <a:off x="2361708" y="2408754"/>
            <a:ext cx="163054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-€50 ≤ Spread ≤ +€50</a:t>
            </a:r>
            <a:endParaRPr lang="en-US" sz="16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26FEEAC-9225-9902-7676-D2A8C7386414}"/>
              </a:ext>
            </a:extLst>
          </p:cNvPr>
          <p:cNvSpPr/>
          <p:nvPr/>
        </p:nvSpPr>
        <p:spPr>
          <a:xfrm>
            <a:off x="4111963" y="1964061"/>
            <a:ext cx="1723185" cy="667040"/>
          </a:xfrm>
          <a:custGeom>
            <a:avLst/>
            <a:gdLst/>
            <a:ahLst/>
            <a:cxnLst/>
            <a:rect l="l" t="t" r="r" b="b"/>
            <a:pathLst>
              <a:path w="1723185" h="667040">
                <a:moveTo>
                  <a:pt x="37061" y="0"/>
                </a:moveTo>
                <a:lnTo>
                  <a:pt x="1686125" y="0"/>
                </a:lnTo>
                <a:cubicBezTo>
                  <a:pt x="1706593" y="0"/>
                  <a:pt x="1723185" y="16593"/>
                  <a:pt x="1723185" y="37061"/>
                </a:cubicBezTo>
                <a:lnTo>
                  <a:pt x="1723185" y="629979"/>
                </a:lnTo>
                <a:cubicBezTo>
                  <a:pt x="1723185" y="650447"/>
                  <a:pt x="1706593" y="667040"/>
                  <a:pt x="1686125" y="667040"/>
                </a:cubicBezTo>
                <a:lnTo>
                  <a:pt x="37061" y="667040"/>
                </a:lnTo>
                <a:cubicBezTo>
                  <a:pt x="16593" y="667040"/>
                  <a:pt x="0" y="650447"/>
                  <a:pt x="0" y="629979"/>
                </a:cubicBezTo>
                <a:lnTo>
                  <a:pt x="0" y="37061"/>
                </a:lnTo>
                <a:cubicBezTo>
                  <a:pt x="0" y="16593"/>
                  <a:pt x="16593" y="0"/>
                  <a:pt x="37061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01F55E-31E2-97EF-E60E-64DF2DB43EED}"/>
              </a:ext>
            </a:extLst>
          </p:cNvPr>
          <p:cNvSpPr/>
          <p:nvPr/>
        </p:nvSpPr>
        <p:spPr>
          <a:xfrm>
            <a:off x="4153653" y="2223465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</a:t>
            </a:r>
            <a:endParaRPr lang="en-US"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9641774-B1DD-010D-8978-7E30682F7A42}"/>
              </a:ext>
            </a:extLst>
          </p:cNvPr>
          <p:cNvSpPr/>
          <p:nvPr/>
        </p:nvSpPr>
        <p:spPr>
          <a:xfrm>
            <a:off x="4158285" y="2408754"/>
            <a:ext cx="163054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5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Spread &lt; -€50</a:t>
            </a:r>
            <a:endParaRPr lang="en-US"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D10B1D5-B5A0-1804-F71D-A17475576E8A}"/>
              </a:ext>
            </a:extLst>
          </p:cNvPr>
          <p:cNvSpPr/>
          <p:nvPr/>
        </p:nvSpPr>
        <p:spPr>
          <a:xfrm>
            <a:off x="370578" y="2927562"/>
            <a:ext cx="5697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Configuration</a:t>
            </a:r>
            <a:endParaRPr lang="en-US" sz="12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CBC78B9-4898-2030-48D4-5EF8253AA6D3}"/>
              </a:ext>
            </a:extLst>
          </p:cNvPr>
          <p:cNvSpPr/>
          <p:nvPr/>
        </p:nvSpPr>
        <p:spPr>
          <a:xfrm>
            <a:off x="461774" y="3238405"/>
            <a:ext cx="545675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StandardScaler</a:t>
            </a:r>
            <a:endParaRPr lang="en-US" sz="14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78CCA81F-4833-36E1-9D5F-1753E31991BE}"/>
              </a:ext>
            </a:extLst>
          </p:cNvPr>
          <p:cNvSpPr/>
          <p:nvPr/>
        </p:nvSpPr>
        <p:spPr>
          <a:xfrm>
            <a:off x="461774" y="3423694"/>
            <a:ext cx="5447489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Z-score normalization for feature scaling</a:t>
            </a:r>
            <a:endParaRPr lang="en-US" sz="14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109BB2AB-376D-D05E-B44E-4788D01E3D76}"/>
              </a:ext>
            </a:extLst>
          </p:cNvPr>
          <p:cNvSpPr/>
          <p:nvPr/>
        </p:nvSpPr>
        <p:spPr>
          <a:xfrm>
            <a:off x="467419" y="3716007"/>
            <a:ext cx="545675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HistGradientBoostingClassifier</a:t>
            </a:r>
            <a:endParaRPr lang="en-US" sz="14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0D5D83F-7C82-1B17-A803-426DC7014060}"/>
              </a:ext>
            </a:extLst>
          </p:cNvPr>
          <p:cNvSpPr/>
          <p:nvPr/>
        </p:nvSpPr>
        <p:spPr>
          <a:xfrm>
            <a:off x="461774" y="3891089"/>
            <a:ext cx="5447489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max_iter=300, learning_rate=0.08, max_depth=7, l2_regularization=1.0</a:t>
            </a:r>
            <a:endParaRPr lang="en-US" sz="14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B42920B1-FE78-D7F6-A712-2CD358106400}"/>
              </a:ext>
            </a:extLst>
          </p:cNvPr>
          <p:cNvSpPr/>
          <p:nvPr/>
        </p:nvSpPr>
        <p:spPr>
          <a:xfrm>
            <a:off x="6205002" y="1185848"/>
            <a:ext cx="5697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Algorithm Comparison</a:t>
            </a:r>
            <a:endParaRPr lang="en-US" sz="16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4AAA60B9-4867-87F9-8CD8-33A7D6FA7E05}"/>
              </a:ext>
            </a:extLst>
          </p:cNvPr>
          <p:cNvSpPr/>
          <p:nvPr/>
        </p:nvSpPr>
        <p:spPr>
          <a:xfrm>
            <a:off x="387659" y="4377000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B8AFC906-22F4-E208-6181-4333142D97D1}"/>
              </a:ext>
            </a:extLst>
          </p:cNvPr>
          <p:cNvSpPr/>
          <p:nvPr/>
        </p:nvSpPr>
        <p:spPr>
          <a:xfrm>
            <a:off x="461774" y="4451115"/>
            <a:ext cx="140819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HistGradientBoosting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667C3E1C-92E2-59BB-5C58-2F6DCC2E647D}"/>
              </a:ext>
            </a:extLst>
          </p:cNvPr>
          <p:cNvSpPr/>
          <p:nvPr/>
        </p:nvSpPr>
        <p:spPr>
          <a:xfrm>
            <a:off x="4752657" y="4476834"/>
            <a:ext cx="123217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81.5% | €12.0/MWh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8ACAC822-EF2D-9CF6-3CD9-0C6E1ADC50A9}"/>
              </a:ext>
            </a:extLst>
          </p:cNvPr>
          <p:cNvSpPr/>
          <p:nvPr/>
        </p:nvSpPr>
        <p:spPr>
          <a:xfrm>
            <a:off x="387659" y="4784635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D000370A-8EB8-AE95-FD06-A94837D751D6}"/>
              </a:ext>
            </a:extLst>
          </p:cNvPr>
          <p:cNvSpPr/>
          <p:nvPr/>
        </p:nvSpPr>
        <p:spPr>
          <a:xfrm>
            <a:off x="461774" y="4858750"/>
            <a:ext cx="119511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Regression</a:t>
            </a:r>
            <a:endParaRPr lang="en-US" sz="14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C022382-62F5-B272-EF87-9382C469FB03}"/>
              </a:ext>
            </a:extLst>
          </p:cNvPr>
          <p:cNvSpPr/>
          <p:nvPr/>
        </p:nvSpPr>
        <p:spPr>
          <a:xfrm>
            <a:off x="4752657" y="4858750"/>
            <a:ext cx="122290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44.6% | €12.7/MWh</a:t>
            </a:r>
            <a:endParaRPr lang="en-US" sz="140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E378E557-7B1F-BAB9-BB41-6E9DBC7BE3EB}"/>
              </a:ext>
            </a:extLst>
          </p:cNvPr>
          <p:cNvSpPr/>
          <p:nvPr/>
        </p:nvSpPr>
        <p:spPr>
          <a:xfrm>
            <a:off x="387659" y="5192270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A98D3270-2691-9B58-F2BD-C37886CA5381}"/>
              </a:ext>
            </a:extLst>
          </p:cNvPr>
          <p:cNvSpPr/>
          <p:nvPr/>
        </p:nvSpPr>
        <p:spPr>
          <a:xfrm>
            <a:off x="461774" y="5266386"/>
            <a:ext cx="95423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40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D795CF9B-5A63-1EBB-5ED3-17E2426D7911}"/>
              </a:ext>
            </a:extLst>
          </p:cNvPr>
          <p:cNvSpPr/>
          <p:nvPr/>
        </p:nvSpPr>
        <p:spPr>
          <a:xfrm>
            <a:off x="4752657" y="5273575"/>
            <a:ext cx="115805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48.2% | €6.8/MWh</a:t>
            </a:r>
            <a:endParaRPr lang="en-US" sz="140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41F64E8C-31D8-F364-5F55-1F054026378B}"/>
              </a:ext>
            </a:extLst>
          </p:cNvPr>
          <p:cNvSpPr/>
          <p:nvPr/>
        </p:nvSpPr>
        <p:spPr>
          <a:xfrm>
            <a:off x="387659" y="5599905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5DC98EE3-7BD5-0132-86D5-0CFD7B553827}"/>
              </a:ext>
            </a:extLst>
          </p:cNvPr>
          <p:cNvSpPr/>
          <p:nvPr/>
        </p:nvSpPr>
        <p:spPr>
          <a:xfrm>
            <a:off x="461774" y="5674021"/>
            <a:ext cx="63924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LightGBM</a:t>
            </a:r>
            <a:endParaRPr lang="en-US" sz="140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CD7D40BD-86D5-8C0F-FF64-06CC90B3A25C}"/>
              </a:ext>
            </a:extLst>
          </p:cNvPr>
          <p:cNvSpPr/>
          <p:nvPr/>
        </p:nvSpPr>
        <p:spPr>
          <a:xfrm>
            <a:off x="4752657" y="5681210"/>
            <a:ext cx="115805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41.1% | €4.4/MWh</a:t>
            </a:r>
            <a:endParaRPr lang="en-US" sz="14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82B355DF-612B-BC01-E30C-E2EF5C37AB9D}"/>
              </a:ext>
            </a:extLst>
          </p:cNvPr>
          <p:cNvSpPr/>
          <p:nvPr/>
        </p:nvSpPr>
        <p:spPr>
          <a:xfrm>
            <a:off x="379842" y="6013442"/>
            <a:ext cx="11432316" cy="667040"/>
          </a:xfrm>
          <a:custGeom>
            <a:avLst/>
            <a:gdLst/>
            <a:ahLst/>
            <a:cxnLst/>
            <a:rect l="l" t="t" r="r" b="b"/>
            <a:pathLst>
              <a:path w="11432316" h="667040">
                <a:moveTo>
                  <a:pt x="37058" y="0"/>
                </a:moveTo>
                <a:lnTo>
                  <a:pt x="11358201" y="0"/>
                </a:lnTo>
                <a:cubicBezTo>
                  <a:pt x="11399134" y="0"/>
                  <a:pt x="11432316" y="33182"/>
                  <a:pt x="11432316" y="74115"/>
                </a:cubicBezTo>
                <a:lnTo>
                  <a:pt x="11432316" y="592925"/>
                </a:lnTo>
                <a:cubicBezTo>
                  <a:pt x="11432316" y="633857"/>
                  <a:pt x="11399134" y="667040"/>
                  <a:pt x="11358201" y="667040"/>
                </a:cubicBezTo>
                <a:lnTo>
                  <a:pt x="37058" y="667040"/>
                </a:lnTo>
                <a:cubicBezTo>
                  <a:pt x="16591" y="667040"/>
                  <a:pt x="0" y="650448"/>
                  <a:pt x="0" y="629982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B1ED502A-8461-BF95-73AC-3818485FFE1A}"/>
              </a:ext>
            </a:extLst>
          </p:cNvPr>
          <p:cNvSpPr/>
          <p:nvPr/>
        </p:nvSpPr>
        <p:spPr>
          <a:xfrm>
            <a:off x="546602" y="6161673"/>
            <a:ext cx="11182176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Selection Rationale:</a:t>
            </a:r>
            <a:r>
              <a:rPr lang="en-US" sz="102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HistGradientBoosting selected for optimal balance of accuracy (81.5%) and profit per MWh (€12.0). Logistic Regression shows similar profit but with significantly lower accuracy (44.6%), indicating higher risk.</a:t>
            </a:r>
            <a:endParaRPr lang="en-US" sz="1600"/>
          </a:p>
        </p:txBody>
      </p:sp>
      <p:pic>
        <p:nvPicPr>
          <p:cNvPr id="39" name="Picture 38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5C484320-B45D-8F95-C1CD-236A402D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207" y="1529455"/>
            <a:ext cx="5879576" cy="4288612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4D1DD6D-9E5A-1F44-71EB-896EDC7FA97B}"/>
              </a:ext>
            </a:extLst>
          </p:cNvPr>
          <p:cNvCxnSpPr/>
          <p:nvPr/>
        </p:nvCxnSpPr>
        <p:spPr>
          <a:xfrm>
            <a:off x="387659" y="4253666"/>
            <a:ext cx="5614249" cy="0"/>
          </a:xfrm>
          <a:prstGeom prst="line">
            <a:avLst/>
          </a:prstGeom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 10">
            <a:extLst>
              <a:ext uri="{FF2B5EF4-FFF2-40B4-BE49-F238E27FC236}">
                <a16:creationId xmlns:a16="http://schemas.microsoft.com/office/drawing/2014/main" id="{2755D54A-8FAF-36F0-53AD-30BDE3F3BF0F}"/>
              </a:ext>
            </a:extLst>
          </p:cNvPr>
          <p:cNvSpPr/>
          <p:nvPr/>
        </p:nvSpPr>
        <p:spPr>
          <a:xfrm>
            <a:off x="2357076" y="2038176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03E1DCEF-B1C4-CEDA-156A-37F90B910148}"/>
              </a:ext>
            </a:extLst>
          </p:cNvPr>
          <p:cNvSpPr/>
          <p:nvPr/>
        </p:nvSpPr>
        <p:spPr>
          <a:xfrm>
            <a:off x="4153653" y="2038176"/>
            <a:ext cx="1639805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1202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2A6B76-5F93-BF1B-0268-363C569BA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935224"/>
            <a:ext cx="5576237" cy="270357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D6DE17-57C5-3D62-437E-E7A6B820D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48132" y="417419"/>
            <a:ext cx="5562868" cy="28322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8BC311F-9066-DB08-D6F8-75DCC3D6D8CC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FOUNDATIONS</a:t>
            </a:r>
            <a:endParaRPr lang="en-US" sz="16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00BCAEE-298F-E741-E79C-5B8AE4F11674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</a:rPr>
              <a:t>Results from </a:t>
            </a:r>
            <a:r>
              <a:rPr lang="en-US" sz="2700" b="1" err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</a:rPr>
              <a:t>HistGadient</a:t>
            </a: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</a:rPr>
              <a:t> Boosting</a:t>
            </a:r>
            <a:endParaRPr lang="en-US" sz="1600"/>
          </a:p>
        </p:txBody>
      </p:sp>
      <p:sp>
        <p:nvSpPr>
          <p:cNvPr id="7" name="Shape 37">
            <a:extLst>
              <a:ext uri="{FF2B5EF4-FFF2-40B4-BE49-F238E27FC236}">
                <a16:creationId xmlns:a16="http://schemas.microsoft.com/office/drawing/2014/main" id="{4C085902-C4D0-97CA-78CB-63A012E3A23A}"/>
              </a:ext>
            </a:extLst>
          </p:cNvPr>
          <p:cNvSpPr/>
          <p:nvPr/>
        </p:nvSpPr>
        <p:spPr>
          <a:xfrm>
            <a:off x="381000" y="57912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8">
            <a:extLst>
              <a:ext uri="{FF2B5EF4-FFF2-40B4-BE49-F238E27FC236}">
                <a16:creationId xmlns:a16="http://schemas.microsoft.com/office/drawing/2014/main" id="{73FCFBA3-5592-AB61-1D76-F2B637818D2C}"/>
              </a:ext>
            </a:extLst>
          </p:cNvPr>
          <p:cNvSpPr/>
          <p:nvPr/>
        </p:nvSpPr>
        <p:spPr>
          <a:xfrm>
            <a:off x="533400" y="5943600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Highlights from Validation Set: The m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odel works reliably across different hours whilst handling complex dynamics of the energy market.</a:t>
            </a:r>
            <a:endParaRPr lang="en-US" sz="1600"/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33516D5A-2B36-B0FE-F262-0DC20F3A4CB5}"/>
              </a:ext>
            </a:extLst>
          </p:cNvPr>
          <p:cNvSpPr/>
          <p:nvPr/>
        </p:nvSpPr>
        <p:spPr>
          <a:xfrm>
            <a:off x="6248132" y="3474976"/>
            <a:ext cx="5541532" cy="1901505"/>
          </a:xfrm>
          <a:custGeom>
            <a:avLst/>
            <a:gdLst/>
            <a:ahLst/>
            <a:cxnLst/>
            <a:rect l="l" t="t" r="r" b="b"/>
            <a:pathLst>
              <a:path w="2749725" h="1901505">
                <a:moveTo>
                  <a:pt x="74577" y="0"/>
                </a:moveTo>
                <a:lnTo>
                  <a:pt x="2675148" y="0"/>
                </a:lnTo>
                <a:cubicBezTo>
                  <a:pt x="2716336" y="0"/>
                  <a:pt x="2749725" y="33389"/>
                  <a:pt x="2749725" y="74577"/>
                </a:cubicBezTo>
                <a:lnTo>
                  <a:pt x="2749725" y="1826928"/>
                </a:lnTo>
                <a:cubicBezTo>
                  <a:pt x="2749725" y="1868115"/>
                  <a:pt x="2716336" y="1901505"/>
                  <a:pt x="2675148" y="1901505"/>
                </a:cubicBezTo>
                <a:lnTo>
                  <a:pt x="74577" y="1901505"/>
                </a:lnTo>
                <a:cubicBezTo>
                  <a:pt x="33389" y="1901505"/>
                  <a:pt x="0" y="1868115"/>
                  <a:pt x="0" y="1826928"/>
                </a:cubicBezTo>
                <a:lnTo>
                  <a:pt x="0" y="74577"/>
                </a:lnTo>
                <a:cubicBezTo>
                  <a:pt x="0" y="33417"/>
                  <a:pt x="33417" y="0"/>
                  <a:pt x="74577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DF336717-9CB5-FA91-5FB3-35E7F89A1A66}"/>
              </a:ext>
            </a:extLst>
          </p:cNvPr>
          <p:cNvSpPr/>
          <p:nvPr/>
        </p:nvSpPr>
        <p:spPr>
          <a:xfrm>
            <a:off x="6460098" y="3570261"/>
            <a:ext cx="488573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Cumulative P&amp;L</a:t>
            </a:r>
            <a:endParaRPr lang="en-US" sz="160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254BCD33-312C-1B48-8400-8329E20D1C4D}"/>
              </a:ext>
            </a:extLst>
          </p:cNvPr>
          <p:cNvSpPr/>
          <p:nvPr/>
        </p:nvSpPr>
        <p:spPr>
          <a:xfrm>
            <a:off x="530138" y="1177837"/>
            <a:ext cx="4885738" cy="198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Cumulative P&amp;L</a:t>
            </a:r>
            <a:endParaRPr lang="en-US" sz="1600"/>
          </a:p>
        </p:txBody>
      </p:sp>
      <p:sp>
        <p:nvSpPr>
          <p:cNvPr id="14" name="Shape 47">
            <a:extLst>
              <a:ext uri="{FF2B5EF4-FFF2-40B4-BE49-F238E27FC236}">
                <a16:creationId xmlns:a16="http://schemas.microsoft.com/office/drawing/2014/main" id="{10C99DAA-33E7-3EF1-AD07-03F44A784701}"/>
              </a:ext>
            </a:extLst>
          </p:cNvPr>
          <p:cNvSpPr/>
          <p:nvPr/>
        </p:nvSpPr>
        <p:spPr>
          <a:xfrm>
            <a:off x="337819" y="1123940"/>
            <a:ext cx="5672457" cy="1582684"/>
          </a:xfrm>
          <a:custGeom>
            <a:avLst/>
            <a:gdLst/>
            <a:ahLst/>
            <a:cxnLst/>
            <a:rect l="l" t="t" r="r" b="b"/>
            <a:pathLst>
              <a:path w="11463324" h="639813">
                <a:moveTo>
                  <a:pt x="35545" y="0"/>
                </a:moveTo>
                <a:lnTo>
                  <a:pt x="11392234" y="0"/>
                </a:lnTo>
                <a:cubicBezTo>
                  <a:pt x="11431496" y="0"/>
                  <a:pt x="11463324" y="31828"/>
                  <a:pt x="11463324" y="71090"/>
                </a:cubicBezTo>
                <a:lnTo>
                  <a:pt x="11463324" y="568724"/>
                </a:lnTo>
                <a:cubicBezTo>
                  <a:pt x="11463324" y="607985"/>
                  <a:pt x="11431496" y="639813"/>
                  <a:pt x="11392234" y="639813"/>
                </a:cubicBezTo>
                <a:lnTo>
                  <a:pt x="35545" y="639813"/>
                </a:lnTo>
                <a:cubicBezTo>
                  <a:pt x="15914" y="639813"/>
                  <a:pt x="0" y="623899"/>
                  <a:pt x="0" y="604268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09F697CA-DA1C-A629-1765-9EF5CB65A5FA}"/>
              </a:ext>
            </a:extLst>
          </p:cNvPr>
          <p:cNvSpPr/>
          <p:nvPr/>
        </p:nvSpPr>
        <p:spPr>
          <a:xfrm>
            <a:off x="530138" y="1224909"/>
            <a:ext cx="488573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Cumulative P&amp;L</a:t>
            </a:r>
            <a:endParaRPr lang="en-US" sz="160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6672F08-84E4-D50F-7130-34B0835DFA84}"/>
              </a:ext>
            </a:extLst>
          </p:cNvPr>
          <p:cNvSpPr/>
          <p:nvPr/>
        </p:nvSpPr>
        <p:spPr>
          <a:xfrm>
            <a:off x="531738" y="1523977"/>
            <a:ext cx="5064390" cy="18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GB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</a:t>
            </a:r>
            <a:r>
              <a:rPr lang="en-GB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consistently</a:t>
            </a:r>
            <a:r>
              <a:rPr lang="en-GB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predicts between 75-90% which increases </a:t>
            </a:r>
            <a:r>
              <a:rPr lang="en-GB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</a:t>
            </a:r>
            <a:r>
              <a:rPr lang="en-GB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levels</a:t>
            </a:r>
            <a:endParaRPr lang="en-US" sz="16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642DD97-330C-8E93-ADC7-F2B9ED2FA996}"/>
              </a:ext>
            </a:extLst>
          </p:cNvPr>
          <p:cNvSpPr/>
          <p:nvPr/>
        </p:nvSpPr>
        <p:spPr>
          <a:xfrm>
            <a:off x="531738" y="1869188"/>
            <a:ext cx="5329566" cy="13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during busy hours suggests high volume trading thus leading to more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predictable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patterns</a:t>
            </a:r>
            <a:endParaRPr lang="en-US" sz="160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0E17ACD-0644-3848-2E3E-D298C31CAA9D}"/>
              </a:ext>
            </a:extLst>
          </p:cNvPr>
          <p:cNvSpPr/>
          <p:nvPr/>
        </p:nvSpPr>
        <p:spPr>
          <a:xfrm>
            <a:off x="531738" y="2152769"/>
            <a:ext cx="53295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Slight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dip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accuracy for hours between 0-2 and 20-22, highlighting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volume trading</a:t>
            </a:r>
            <a:endParaRPr lang="en-US" sz="160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4DD6BAF-7740-8DC3-7EA5-BA8C25DCDB86}"/>
              </a:ext>
            </a:extLst>
          </p:cNvPr>
          <p:cNvSpPr/>
          <p:nvPr/>
        </p:nvSpPr>
        <p:spPr>
          <a:xfrm>
            <a:off x="531738" y="2376475"/>
            <a:ext cx="53295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model highlights that it works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reliably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24/7</a:t>
            </a:r>
            <a:endParaRPr lang="en-US" sz="160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53FF087-79A8-17A6-9AF9-7E2FBB70C064}"/>
              </a:ext>
            </a:extLst>
          </p:cNvPr>
          <p:cNvSpPr/>
          <p:nvPr/>
        </p:nvSpPr>
        <p:spPr>
          <a:xfrm>
            <a:off x="6460098" y="3909085"/>
            <a:ext cx="5064390" cy="18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profit curve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rises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consistently from </a:t>
            </a:r>
            <a:r>
              <a:rPr lang="en-GB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 to over </a:t>
            </a:r>
            <a:r>
              <a:rPr lang="en-GB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70,000</a:t>
            </a:r>
            <a:endParaRPr lang="en-US" sz="160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01302AF-5855-E043-DC67-0C7CA0DD15AA}"/>
              </a:ext>
            </a:extLst>
          </p:cNvPr>
          <p:cNvSpPr/>
          <p:nvPr/>
        </p:nvSpPr>
        <p:spPr>
          <a:xfrm>
            <a:off x="6460098" y="4207358"/>
            <a:ext cx="5155830" cy="15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consistent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growth with no long or massive periods of loss</a:t>
            </a:r>
            <a:endParaRPr lang="en-US" sz="16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4310462-87AD-EEDB-0F95-79324860BDC7}"/>
              </a:ext>
            </a:extLst>
          </p:cNvPr>
          <p:cNvSpPr/>
          <p:nvPr/>
        </p:nvSpPr>
        <p:spPr>
          <a:xfrm>
            <a:off x="6460098" y="4510225"/>
            <a:ext cx="53295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spike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between Jan and March suggests model worked exceptionally well</a:t>
            </a:r>
            <a:endParaRPr lang="en-US" sz="16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5846A407-F605-4394-E342-C06D3CB38259}"/>
              </a:ext>
            </a:extLst>
          </p:cNvPr>
          <p:cNvSpPr/>
          <p:nvPr/>
        </p:nvSpPr>
        <p:spPr>
          <a:xfrm>
            <a:off x="6460098" y="4828773"/>
            <a:ext cx="53295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model worked exceptionally well with </a:t>
            </a: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 risk </a:t>
            </a: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without compromising profits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1299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45B23FD-8B35-AAE9-AE0E-3C395D5870D4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ANALYSIS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F10CADF-C0AD-A6F1-EA08-46FB96A0D1FC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Profitability by Market Pair</a:t>
            </a:r>
            <a:endParaRPr lang="en-US" sz="1600"/>
          </a:p>
        </p:txBody>
      </p:sp>
      <p:sp>
        <p:nvSpPr>
          <p:cNvPr id="6" name="Shape 37">
            <a:extLst>
              <a:ext uri="{FF2B5EF4-FFF2-40B4-BE49-F238E27FC236}">
                <a16:creationId xmlns:a16="http://schemas.microsoft.com/office/drawing/2014/main" id="{F3883E63-7D8B-CA63-9E38-52EE9BBDF055}"/>
              </a:ext>
            </a:extLst>
          </p:cNvPr>
          <p:cNvSpPr/>
          <p:nvPr/>
        </p:nvSpPr>
        <p:spPr>
          <a:xfrm>
            <a:off x="381000" y="57912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8">
            <a:extLst>
              <a:ext uri="{FF2B5EF4-FFF2-40B4-BE49-F238E27FC236}">
                <a16:creationId xmlns:a16="http://schemas.microsoft.com/office/drawing/2014/main" id="{ED2F0134-47B8-54F4-7FD2-F13724411E15}"/>
              </a:ext>
            </a:extLst>
          </p:cNvPr>
          <p:cNvSpPr/>
          <p:nvPr/>
        </p:nvSpPr>
        <p:spPr>
          <a:xfrm>
            <a:off x="533400" y="5943600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Insight:</a:t>
            </a: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DAM-IDA1 offers the optimal risk-adjusted return with highest accuracy (81.5%) and strong profit per MWh (€12.0). DAM-BM shows higher profit per trade (€12.7) but lower accuracy (44.6%), suggesting higher variance in outcomes.</a:t>
            </a:r>
            <a:endParaRPr lang="en-US" sz="1600"/>
          </a:p>
        </p:txBody>
      </p:sp>
      <p:pic>
        <p:nvPicPr>
          <p:cNvPr id="8" name="Picture 7" descr="A graph of a trading performance&#10;&#10;AI-generated content may be incorrect.">
            <a:extLst>
              <a:ext uri="{FF2B5EF4-FFF2-40B4-BE49-F238E27FC236}">
                <a16:creationId xmlns:a16="http://schemas.microsoft.com/office/drawing/2014/main" id="{8BCD2A26-1BF6-4DAB-FDCF-26E29453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31333"/>
            <a:ext cx="6902648" cy="4407467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5CD97771-60A9-4220-B499-1A67236F459E}"/>
              </a:ext>
            </a:extLst>
          </p:cNvPr>
          <p:cNvSpPr/>
          <p:nvPr/>
        </p:nvSpPr>
        <p:spPr>
          <a:xfrm>
            <a:off x="7252022" y="124415"/>
            <a:ext cx="2190750" cy="1790700"/>
          </a:xfrm>
          <a:custGeom>
            <a:avLst/>
            <a:gdLst/>
            <a:ahLst/>
            <a:cxnLst/>
            <a:rect l="l" t="t" r="r" b="b"/>
            <a:pathLst>
              <a:path w="2190750" h="1790700">
                <a:moveTo>
                  <a:pt x="76194" y="0"/>
                </a:moveTo>
                <a:lnTo>
                  <a:pt x="2114556" y="0"/>
                </a:lnTo>
                <a:cubicBezTo>
                  <a:pt x="2156608" y="0"/>
                  <a:pt x="2190750" y="34142"/>
                  <a:pt x="2190750" y="76194"/>
                </a:cubicBezTo>
                <a:lnTo>
                  <a:pt x="2190750" y="1714506"/>
                </a:lnTo>
                <a:cubicBezTo>
                  <a:pt x="2190750" y="1756587"/>
                  <a:pt x="2156637" y="1790700"/>
                  <a:pt x="2114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DB638FB-12EE-9E53-03AD-8DC4B46FFA35}"/>
              </a:ext>
            </a:extLst>
          </p:cNvPr>
          <p:cNvSpPr/>
          <p:nvPr/>
        </p:nvSpPr>
        <p:spPr>
          <a:xfrm>
            <a:off x="7347272" y="27681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DAM-IDA1</a:t>
            </a:r>
            <a:endParaRPr lang="en-US" sz="16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6DFCDE0-7EE5-6900-50A8-A471A1AF9437}"/>
              </a:ext>
            </a:extLst>
          </p:cNvPr>
          <p:cNvSpPr/>
          <p:nvPr/>
        </p:nvSpPr>
        <p:spPr>
          <a:xfrm>
            <a:off x="7371085" y="61971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Overall</a:t>
            </a:r>
            <a:endParaRPr lang="en-US" sz="16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0EFD882-4A7F-CD3A-D459-6ED6547E06B7}"/>
              </a:ext>
            </a:extLst>
          </p:cNvPr>
          <p:cNvSpPr/>
          <p:nvPr/>
        </p:nvSpPr>
        <p:spPr>
          <a:xfrm>
            <a:off x="7371085" y="88641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€12.0/MWh</a:t>
            </a:r>
            <a:endParaRPr lang="en-US" sz="16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698864B-BD81-2B6B-802D-035BC083C7AC}"/>
              </a:ext>
            </a:extLst>
          </p:cNvPr>
          <p:cNvSpPr/>
          <p:nvPr/>
        </p:nvSpPr>
        <p:spPr>
          <a:xfrm>
            <a:off x="7371085" y="111501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81.5% Acc</a:t>
            </a:r>
            <a:endParaRPr lang="en-US" sz="160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AC0A492-F4A0-B60E-840B-FC57E14C9527}"/>
              </a:ext>
            </a:extLst>
          </p:cNvPr>
          <p:cNvSpPr/>
          <p:nvPr/>
        </p:nvSpPr>
        <p:spPr>
          <a:xfrm>
            <a:off x="7371085" y="134361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€139,403</a:t>
            </a:r>
            <a:endParaRPr lang="en-US" sz="16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CB37FE2B-469D-B2A5-485C-AF72130A79A2}"/>
              </a:ext>
            </a:extLst>
          </p:cNvPr>
          <p:cNvSpPr/>
          <p:nvPr/>
        </p:nvSpPr>
        <p:spPr>
          <a:xfrm>
            <a:off x="7371085" y="157221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11,656 trades</a:t>
            </a:r>
            <a:endParaRPr lang="en-US" sz="160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C4221C4-221D-F201-2FE2-9EEB6DC3A0FD}"/>
              </a:ext>
            </a:extLst>
          </p:cNvPr>
          <p:cNvSpPr/>
          <p:nvPr/>
        </p:nvSpPr>
        <p:spPr>
          <a:xfrm>
            <a:off x="9966164" y="112445"/>
            <a:ext cx="2190750" cy="1790700"/>
          </a:xfrm>
          <a:custGeom>
            <a:avLst/>
            <a:gdLst/>
            <a:ahLst/>
            <a:cxnLst/>
            <a:rect l="l" t="t" r="r" b="b"/>
            <a:pathLst>
              <a:path w="2190750" h="1790700">
                <a:moveTo>
                  <a:pt x="76194" y="0"/>
                </a:moveTo>
                <a:lnTo>
                  <a:pt x="2114556" y="0"/>
                </a:lnTo>
                <a:cubicBezTo>
                  <a:pt x="2156608" y="0"/>
                  <a:pt x="2190750" y="34142"/>
                  <a:pt x="2190750" y="76194"/>
                </a:cubicBezTo>
                <a:lnTo>
                  <a:pt x="2190750" y="1714506"/>
                </a:lnTo>
                <a:cubicBezTo>
                  <a:pt x="2190750" y="1756587"/>
                  <a:pt x="2156637" y="1790700"/>
                  <a:pt x="2114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2988A34-01FC-2777-032C-B2F1262C277B}"/>
              </a:ext>
            </a:extLst>
          </p:cNvPr>
          <p:cNvSpPr/>
          <p:nvPr/>
        </p:nvSpPr>
        <p:spPr>
          <a:xfrm>
            <a:off x="10061861" y="259346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DAM-BM</a:t>
            </a:r>
            <a:endParaRPr lang="en-US" sz="160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17715891-E78A-EFAF-9624-BE188E633A03}"/>
              </a:ext>
            </a:extLst>
          </p:cNvPr>
          <p:cNvSpPr/>
          <p:nvPr/>
        </p:nvSpPr>
        <p:spPr>
          <a:xfrm>
            <a:off x="10085673" y="6022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Profit</a:t>
            </a:r>
            <a:endParaRPr lang="en-US" sz="160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66ED614-2EA9-45D6-68E7-AE4C38E01A1F}"/>
              </a:ext>
            </a:extLst>
          </p:cNvPr>
          <p:cNvSpPr/>
          <p:nvPr/>
        </p:nvSpPr>
        <p:spPr>
          <a:xfrm>
            <a:off x="10085673" y="8689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€12.7/MWh</a:t>
            </a:r>
            <a:endParaRPr lang="en-US" sz="160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6CCB5DB0-FDFB-C80D-1527-DC198A6915F1}"/>
              </a:ext>
            </a:extLst>
          </p:cNvPr>
          <p:cNvSpPr/>
          <p:nvPr/>
        </p:nvSpPr>
        <p:spPr>
          <a:xfrm>
            <a:off x="10085673" y="10975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44.6% Acc</a:t>
            </a:r>
            <a:endParaRPr lang="en-US" sz="160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FC19E526-0932-5E83-AE2A-521FC3E2BBE8}"/>
              </a:ext>
            </a:extLst>
          </p:cNvPr>
          <p:cNvSpPr/>
          <p:nvPr/>
        </p:nvSpPr>
        <p:spPr>
          <a:xfrm>
            <a:off x="10085673" y="13261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€72,838</a:t>
            </a:r>
            <a:endParaRPr lang="en-US" sz="160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ECDFDA-81C5-C06A-8A87-1E900685D7EC}"/>
              </a:ext>
            </a:extLst>
          </p:cNvPr>
          <p:cNvSpPr/>
          <p:nvPr/>
        </p:nvSpPr>
        <p:spPr>
          <a:xfrm>
            <a:off x="10085673" y="15547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5,744 trades</a:t>
            </a:r>
            <a:endParaRPr lang="en-US" sz="160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5E92878-3F19-21B3-3618-8621AE76866F}"/>
              </a:ext>
            </a:extLst>
          </p:cNvPr>
          <p:cNvSpPr/>
          <p:nvPr/>
        </p:nvSpPr>
        <p:spPr>
          <a:xfrm>
            <a:off x="8521005" y="1986257"/>
            <a:ext cx="2190750" cy="1790700"/>
          </a:xfrm>
          <a:custGeom>
            <a:avLst/>
            <a:gdLst/>
            <a:ahLst/>
            <a:cxnLst/>
            <a:rect l="l" t="t" r="r" b="b"/>
            <a:pathLst>
              <a:path w="2190750" h="1790700">
                <a:moveTo>
                  <a:pt x="76194" y="0"/>
                </a:moveTo>
                <a:lnTo>
                  <a:pt x="2114556" y="0"/>
                </a:lnTo>
                <a:cubicBezTo>
                  <a:pt x="2156608" y="0"/>
                  <a:pt x="2190750" y="34142"/>
                  <a:pt x="2190750" y="76194"/>
                </a:cubicBezTo>
                <a:lnTo>
                  <a:pt x="2190750" y="1714506"/>
                </a:lnTo>
                <a:cubicBezTo>
                  <a:pt x="2190750" y="1756587"/>
                  <a:pt x="2156637" y="1790700"/>
                  <a:pt x="2114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C84B8F32-5E06-DED0-B240-2D828D21C488}"/>
              </a:ext>
            </a:extLst>
          </p:cNvPr>
          <p:cNvSpPr/>
          <p:nvPr/>
        </p:nvSpPr>
        <p:spPr>
          <a:xfrm>
            <a:off x="8616255" y="2138657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IDA1-BM</a:t>
            </a:r>
            <a:endParaRPr lang="en-US" sz="160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21B06C72-90C5-C40D-AB7F-DE3A1E4B6B74}"/>
              </a:ext>
            </a:extLst>
          </p:cNvPr>
          <p:cNvSpPr/>
          <p:nvPr/>
        </p:nvSpPr>
        <p:spPr>
          <a:xfrm>
            <a:off x="8640068" y="2481557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Moderate</a:t>
            </a:r>
            <a:endParaRPr lang="en-US" sz="160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6C54A5BD-5189-0E6A-828F-0C9A0398260B}"/>
              </a:ext>
            </a:extLst>
          </p:cNvPr>
          <p:cNvSpPr/>
          <p:nvPr/>
        </p:nvSpPr>
        <p:spPr>
          <a:xfrm>
            <a:off x="8640068" y="2748257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€5.2/MWh</a:t>
            </a:r>
            <a:endParaRPr lang="en-US" sz="160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EC4A27C3-A1FA-DA11-5451-EB26DD3085D0}"/>
              </a:ext>
            </a:extLst>
          </p:cNvPr>
          <p:cNvSpPr/>
          <p:nvPr/>
        </p:nvSpPr>
        <p:spPr>
          <a:xfrm>
            <a:off x="8640068" y="2976857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59.1% Acc</a:t>
            </a:r>
            <a:endParaRPr lang="en-US" sz="160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5E95D561-F8DC-598B-82F3-243634CCDDEA}"/>
              </a:ext>
            </a:extLst>
          </p:cNvPr>
          <p:cNvSpPr/>
          <p:nvPr/>
        </p:nvSpPr>
        <p:spPr>
          <a:xfrm>
            <a:off x="8640068" y="3205457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€19,122</a:t>
            </a:r>
            <a:endParaRPr lang="en-US" sz="1600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9AB2E3EF-E188-BCBD-24CA-F3619D504CCD}"/>
              </a:ext>
            </a:extLst>
          </p:cNvPr>
          <p:cNvSpPr/>
          <p:nvPr/>
        </p:nvSpPr>
        <p:spPr>
          <a:xfrm>
            <a:off x="7307461" y="3848100"/>
            <a:ext cx="2190750" cy="1790700"/>
          </a:xfrm>
          <a:custGeom>
            <a:avLst/>
            <a:gdLst/>
            <a:ahLst/>
            <a:cxnLst/>
            <a:rect l="l" t="t" r="r" b="b"/>
            <a:pathLst>
              <a:path w="2190750" h="1790700">
                <a:moveTo>
                  <a:pt x="76194" y="0"/>
                </a:moveTo>
                <a:lnTo>
                  <a:pt x="2114556" y="0"/>
                </a:lnTo>
                <a:cubicBezTo>
                  <a:pt x="2156608" y="0"/>
                  <a:pt x="2190750" y="34142"/>
                  <a:pt x="2190750" y="76194"/>
                </a:cubicBezTo>
                <a:lnTo>
                  <a:pt x="2190750" y="1714506"/>
                </a:lnTo>
                <a:cubicBezTo>
                  <a:pt x="2190750" y="1756587"/>
                  <a:pt x="2156637" y="1790700"/>
                  <a:pt x="2114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B521C902-01DD-D024-FFB4-788C5816354A}"/>
              </a:ext>
            </a:extLst>
          </p:cNvPr>
          <p:cNvSpPr/>
          <p:nvPr/>
        </p:nvSpPr>
        <p:spPr>
          <a:xfrm>
            <a:off x="7402711" y="400050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IDA2-BM</a:t>
            </a:r>
            <a:endParaRPr lang="en-US" sz="160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40C3A26C-31D0-1F12-D3E2-14EE4FB045C9}"/>
              </a:ext>
            </a:extLst>
          </p:cNvPr>
          <p:cNvSpPr/>
          <p:nvPr/>
        </p:nvSpPr>
        <p:spPr>
          <a:xfrm>
            <a:off x="7426523" y="43434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Moderate</a:t>
            </a:r>
            <a:endParaRPr lang="en-US" sz="160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C5D7CCEB-0534-AC21-9224-747242CCA32E}"/>
              </a:ext>
            </a:extLst>
          </p:cNvPr>
          <p:cNvSpPr/>
          <p:nvPr/>
        </p:nvSpPr>
        <p:spPr>
          <a:xfrm>
            <a:off x="7426523" y="46101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€6.9/MWh</a:t>
            </a:r>
            <a:endParaRPr lang="en-US" sz="160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8D8A89E5-9499-F856-8A5A-3E848ECBB214}"/>
              </a:ext>
            </a:extLst>
          </p:cNvPr>
          <p:cNvSpPr/>
          <p:nvPr/>
        </p:nvSpPr>
        <p:spPr>
          <a:xfrm>
            <a:off x="7426523" y="48387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42.2% Acc</a:t>
            </a:r>
            <a:endParaRPr lang="en-US" sz="160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2D68A3C3-999A-311D-FC45-004202D560C1}"/>
              </a:ext>
            </a:extLst>
          </p:cNvPr>
          <p:cNvSpPr/>
          <p:nvPr/>
        </p:nvSpPr>
        <p:spPr>
          <a:xfrm>
            <a:off x="7426523" y="50673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€23,888</a:t>
            </a:r>
            <a:endParaRPr lang="en-US" sz="160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2B384C9-34FC-338C-0778-47F65A62854F}"/>
              </a:ext>
            </a:extLst>
          </p:cNvPr>
          <p:cNvSpPr/>
          <p:nvPr/>
        </p:nvSpPr>
        <p:spPr>
          <a:xfrm>
            <a:off x="7426523" y="52959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3,475 trades</a:t>
            </a:r>
            <a:endParaRPr lang="en-US" sz="1600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EBA317CD-BA20-785D-A4E3-2C8B01DDF37D}"/>
              </a:ext>
            </a:extLst>
          </p:cNvPr>
          <p:cNvSpPr/>
          <p:nvPr/>
        </p:nvSpPr>
        <p:spPr>
          <a:xfrm>
            <a:off x="9616380" y="3848100"/>
            <a:ext cx="2190750" cy="1790700"/>
          </a:xfrm>
          <a:custGeom>
            <a:avLst/>
            <a:gdLst/>
            <a:ahLst/>
            <a:cxnLst/>
            <a:rect l="l" t="t" r="r" b="b"/>
            <a:pathLst>
              <a:path w="2190750" h="1790700">
                <a:moveTo>
                  <a:pt x="76194" y="0"/>
                </a:moveTo>
                <a:lnTo>
                  <a:pt x="2114556" y="0"/>
                </a:lnTo>
                <a:cubicBezTo>
                  <a:pt x="2156608" y="0"/>
                  <a:pt x="2190750" y="34142"/>
                  <a:pt x="2190750" y="76194"/>
                </a:cubicBezTo>
                <a:lnTo>
                  <a:pt x="2190750" y="1714506"/>
                </a:lnTo>
                <a:cubicBezTo>
                  <a:pt x="2190750" y="1756587"/>
                  <a:pt x="2156637" y="1790700"/>
                  <a:pt x="21145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DF96C1BD-A17F-AB2A-8643-43340AC59599}"/>
              </a:ext>
            </a:extLst>
          </p:cNvPr>
          <p:cNvSpPr/>
          <p:nvPr/>
        </p:nvSpPr>
        <p:spPr>
          <a:xfrm>
            <a:off x="9711630" y="400050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IDA3-BM</a:t>
            </a:r>
            <a:endParaRPr lang="en-US" sz="1600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6A65ACAC-3863-A168-A75B-5564838C9E33}"/>
              </a:ext>
            </a:extLst>
          </p:cNvPr>
          <p:cNvSpPr/>
          <p:nvPr/>
        </p:nvSpPr>
        <p:spPr>
          <a:xfrm>
            <a:off x="9735443" y="43434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Moderate</a:t>
            </a:r>
            <a:endParaRPr lang="en-US" sz="160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7222FAD9-4407-03C8-4376-AE221FA4483F}"/>
              </a:ext>
            </a:extLst>
          </p:cNvPr>
          <p:cNvSpPr/>
          <p:nvPr/>
        </p:nvSpPr>
        <p:spPr>
          <a:xfrm>
            <a:off x="9735443" y="46101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€9.3/MWh</a:t>
            </a:r>
            <a:endParaRPr lang="en-US" sz="1600"/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9CCDED9C-164F-B2C8-DEEA-F55ACB38D48F}"/>
              </a:ext>
            </a:extLst>
          </p:cNvPr>
          <p:cNvSpPr/>
          <p:nvPr/>
        </p:nvSpPr>
        <p:spPr>
          <a:xfrm>
            <a:off x="9735443" y="48387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49.1% Acc</a:t>
            </a:r>
            <a:endParaRPr lang="en-US" sz="1600"/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C3FCBA23-6951-02A4-28A0-DA591251BDC2}"/>
              </a:ext>
            </a:extLst>
          </p:cNvPr>
          <p:cNvSpPr/>
          <p:nvPr/>
        </p:nvSpPr>
        <p:spPr>
          <a:xfrm>
            <a:off x="9735443" y="50673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€10,259</a:t>
            </a:r>
            <a:endParaRPr lang="en-US" sz="1600"/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FF3460D8-AECC-7BFF-29C9-A293E77C8226}"/>
              </a:ext>
            </a:extLst>
          </p:cNvPr>
          <p:cNvSpPr/>
          <p:nvPr/>
        </p:nvSpPr>
        <p:spPr>
          <a:xfrm>
            <a:off x="9735443" y="52959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1,105 trades</a:t>
            </a:r>
            <a:endParaRPr lang="en-US" sz="1600"/>
          </a:p>
        </p:txBody>
      </p:sp>
      <p:sp>
        <p:nvSpPr>
          <p:cNvPr id="116" name="Text 22">
            <a:extLst>
              <a:ext uri="{FF2B5EF4-FFF2-40B4-BE49-F238E27FC236}">
                <a16:creationId xmlns:a16="http://schemas.microsoft.com/office/drawing/2014/main" id="{5158AD67-6752-BB69-6095-8139EEDF8979}"/>
              </a:ext>
            </a:extLst>
          </p:cNvPr>
          <p:cNvSpPr/>
          <p:nvPr/>
        </p:nvSpPr>
        <p:spPr>
          <a:xfrm>
            <a:off x="8640068" y="3434057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3,696 trades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2139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C6BC747-1933-2117-5F38-B069020B1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52" y="744227"/>
            <a:ext cx="11180056" cy="24903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ACAC8C7-3C0F-45CE-BD1D-1E09BAC4C5A5}"/>
              </a:ext>
            </a:extLst>
          </p:cNvPr>
          <p:cNvSpPr/>
          <p:nvPr/>
        </p:nvSpPr>
        <p:spPr>
          <a:xfrm>
            <a:off x="355452" y="246595"/>
            <a:ext cx="11543300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49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ANALYSIS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EA715E7-530A-8A84-FECF-35D8FB76D559}"/>
              </a:ext>
            </a:extLst>
          </p:cNvPr>
          <p:cNvSpPr/>
          <p:nvPr/>
        </p:nvSpPr>
        <p:spPr>
          <a:xfrm>
            <a:off x="355452" y="495411"/>
            <a:ext cx="11641050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9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Hourly Profitability Heatmap</a:t>
            </a:r>
            <a:endParaRPr lang="en-US" sz="16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532812B-9DDF-C0D7-87A0-B68BC5B88D33}"/>
              </a:ext>
            </a:extLst>
          </p:cNvPr>
          <p:cNvSpPr/>
          <p:nvPr/>
        </p:nvSpPr>
        <p:spPr>
          <a:xfrm>
            <a:off x="355452" y="3305703"/>
            <a:ext cx="378556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 Hours (€15+)</a:t>
            </a:r>
            <a:endParaRPr lang="en-US" sz="16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55F9FF9-2E5F-3EC1-3DC6-39A53D25BC01}"/>
              </a:ext>
            </a:extLst>
          </p:cNvPr>
          <p:cNvSpPr/>
          <p:nvPr/>
        </p:nvSpPr>
        <p:spPr>
          <a:xfrm>
            <a:off x="355452" y="3661155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B7AA990-BDD3-3465-099D-B55701ADC237}"/>
              </a:ext>
            </a:extLst>
          </p:cNvPr>
          <p:cNvSpPr/>
          <p:nvPr/>
        </p:nvSpPr>
        <p:spPr>
          <a:xfrm>
            <a:off x="426542" y="3732245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22:00</a:t>
            </a:r>
            <a:endParaRPr lang="en-US" sz="160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5FBCEFC-4A1B-F0F9-E64F-8F86A25D3F77}"/>
              </a:ext>
            </a:extLst>
          </p:cNvPr>
          <p:cNvSpPr/>
          <p:nvPr/>
        </p:nvSpPr>
        <p:spPr>
          <a:xfrm>
            <a:off x="3532442" y="3732245"/>
            <a:ext cx="5331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€23.35</a:t>
            </a:r>
            <a:endParaRPr lang="en-US" sz="16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5259812-E329-2EA8-EEFB-76FD87EEF378}"/>
              </a:ext>
            </a:extLst>
          </p:cNvPr>
          <p:cNvSpPr/>
          <p:nvPr/>
        </p:nvSpPr>
        <p:spPr>
          <a:xfrm>
            <a:off x="355452" y="4087697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D30969F-AE40-1F7A-3141-0A1D0AA337C7}"/>
              </a:ext>
            </a:extLst>
          </p:cNvPr>
          <p:cNvSpPr/>
          <p:nvPr/>
        </p:nvSpPr>
        <p:spPr>
          <a:xfrm>
            <a:off x="426542" y="4158787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19:00</a:t>
            </a:r>
            <a:endParaRPr lang="en-US" sz="16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9AD55F0-84AB-71BF-42B2-B917E4F8DEAA}"/>
              </a:ext>
            </a:extLst>
          </p:cNvPr>
          <p:cNvSpPr/>
          <p:nvPr/>
        </p:nvSpPr>
        <p:spPr>
          <a:xfrm>
            <a:off x="3532442" y="4158787"/>
            <a:ext cx="5331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€21.33</a:t>
            </a:r>
            <a:endParaRPr lang="en-US" sz="160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D26B5812-7B45-FE35-5176-F70ED019CF0C}"/>
              </a:ext>
            </a:extLst>
          </p:cNvPr>
          <p:cNvSpPr/>
          <p:nvPr/>
        </p:nvSpPr>
        <p:spPr>
          <a:xfrm>
            <a:off x="355452" y="4514239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82B8BBF-1092-7F51-4085-A008B472C064}"/>
              </a:ext>
            </a:extLst>
          </p:cNvPr>
          <p:cNvSpPr/>
          <p:nvPr/>
        </p:nvSpPr>
        <p:spPr>
          <a:xfrm>
            <a:off x="426542" y="4585329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20:00</a:t>
            </a:r>
            <a:endParaRPr lang="en-US" sz="16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97164FA-5AE5-DC9F-44D6-5594F9348547}"/>
              </a:ext>
            </a:extLst>
          </p:cNvPr>
          <p:cNvSpPr/>
          <p:nvPr/>
        </p:nvSpPr>
        <p:spPr>
          <a:xfrm>
            <a:off x="3532442" y="4585329"/>
            <a:ext cx="5331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€19.43</a:t>
            </a:r>
            <a:endParaRPr lang="en-US" sz="16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5FE47AC-A5E9-5319-27CB-CD3EFF297CBE}"/>
              </a:ext>
            </a:extLst>
          </p:cNvPr>
          <p:cNvSpPr/>
          <p:nvPr/>
        </p:nvSpPr>
        <p:spPr>
          <a:xfrm>
            <a:off x="355452" y="4940781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3F8FEEB-8CED-644A-40F3-45AA1128EFB3}"/>
              </a:ext>
            </a:extLst>
          </p:cNvPr>
          <p:cNvSpPr/>
          <p:nvPr/>
        </p:nvSpPr>
        <p:spPr>
          <a:xfrm>
            <a:off x="426542" y="5011872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21:00</a:t>
            </a:r>
            <a:endParaRPr lang="en-US" sz="16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44F3DFD-5BE0-E2B7-6DBA-C4D347FC3BD3}"/>
              </a:ext>
            </a:extLst>
          </p:cNvPr>
          <p:cNvSpPr/>
          <p:nvPr/>
        </p:nvSpPr>
        <p:spPr>
          <a:xfrm>
            <a:off x="3532442" y="5011872"/>
            <a:ext cx="5331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€16.72</a:t>
            </a:r>
            <a:endParaRPr lang="en-US" sz="16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404F6BC-046B-485B-BD59-33ACB9849C78}"/>
              </a:ext>
            </a:extLst>
          </p:cNvPr>
          <p:cNvSpPr/>
          <p:nvPr/>
        </p:nvSpPr>
        <p:spPr>
          <a:xfrm>
            <a:off x="4242929" y="3305703"/>
            <a:ext cx="378556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Moderate Hours (€5-15)</a:t>
            </a:r>
            <a:endParaRPr lang="en-US" sz="16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2B186F1-75AD-5B10-BF8E-D4D91F289476}"/>
              </a:ext>
            </a:extLst>
          </p:cNvPr>
          <p:cNvSpPr/>
          <p:nvPr/>
        </p:nvSpPr>
        <p:spPr>
          <a:xfrm>
            <a:off x="4242929" y="3661155"/>
            <a:ext cx="3705586" cy="319907"/>
          </a:xfrm>
          <a:custGeom>
            <a:avLst/>
            <a:gdLst/>
            <a:ahLst/>
            <a:cxnLst/>
            <a:rect l="l" t="t" r="r" b="b"/>
            <a:pathLst>
              <a:path w="3705586" h="319907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284362"/>
                </a:lnTo>
                <a:cubicBezTo>
                  <a:pt x="3705586" y="303993"/>
                  <a:pt x="3689672" y="319907"/>
                  <a:pt x="3670041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001FB7B-3637-8F00-A0BC-D21339342F23}"/>
              </a:ext>
            </a:extLst>
          </p:cNvPr>
          <p:cNvSpPr/>
          <p:nvPr/>
        </p:nvSpPr>
        <p:spPr>
          <a:xfrm>
            <a:off x="4314020" y="3732245"/>
            <a:ext cx="37322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03:00</a:t>
            </a:r>
            <a:endParaRPr lang="en-US" sz="16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A355995-4A53-DBFB-50B0-A7F67828E2A4}"/>
              </a:ext>
            </a:extLst>
          </p:cNvPr>
          <p:cNvSpPr/>
          <p:nvPr/>
        </p:nvSpPr>
        <p:spPr>
          <a:xfrm>
            <a:off x="7477819" y="3732245"/>
            <a:ext cx="4620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€18.00</a:t>
            </a:r>
            <a:endParaRPr lang="en-US" sz="160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32777F4-F822-5656-E87B-70BCA04BC316}"/>
              </a:ext>
            </a:extLst>
          </p:cNvPr>
          <p:cNvSpPr/>
          <p:nvPr/>
        </p:nvSpPr>
        <p:spPr>
          <a:xfrm>
            <a:off x="4242929" y="4052152"/>
            <a:ext cx="3705586" cy="319907"/>
          </a:xfrm>
          <a:custGeom>
            <a:avLst/>
            <a:gdLst/>
            <a:ahLst/>
            <a:cxnLst/>
            <a:rect l="l" t="t" r="r" b="b"/>
            <a:pathLst>
              <a:path w="3705586" h="319907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284362"/>
                </a:lnTo>
                <a:cubicBezTo>
                  <a:pt x="3705586" y="303993"/>
                  <a:pt x="3689672" y="319907"/>
                  <a:pt x="3670041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98BA2E7-B08F-FD01-985D-7061E25FCDCF}"/>
              </a:ext>
            </a:extLst>
          </p:cNvPr>
          <p:cNvSpPr/>
          <p:nvPr/>
        </p:nvSpPr>
        <p:spPr>
          <a:xfrm>
            <a:off x="4314020" y="4123242"/>
            <a:ext cx="37322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02:00</a:t>
            </a:r>
            <a:endParaRPr lang="en-US" sz="160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A38A3FA-E0F2-CDF4-776F-EECF0F54147B}"/>
              </a:ext>
            </a:extLst>
          </p:cNvPr>
          <p:cNvSpPr/>
          <p:nvPr/>
        </p:nvSpPr>
        <p:spPr>
          <a:xfrm>
            <a:off x="7477819" y="4123242"/>
            <a:ext cx="4620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€14.71</a:t>
            </a:r>
            <a:endParaRPr lang="en-US" sz="160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90D7BA31-66D0-7EAD-38C6-EA37102DF6D2}"/>
              </a:ext>
            </a:extLst>
          </p:cNvPr>
          <p:cNvSpPr/>
          <p:nvPr/>
        </p:nvSpPr>
        <p:spPr>
          <a:xfrm>
            <a:off x="4242929" y="4443149"/>
            <a:ext cx="3705586" cy="319907"/>
          </a:xfrm>
          <a:custGeom>
            <a:avLst/>
            <a:gdLst/>
            <a:ahLst/>
            <a:cxnLst/>
            <a:rect l="l" t="t" r="r" b="b"/>
            <a:pathLst>
              <a:path w="3705586" h="319907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284362"/>
                </a:lnTo>
                <a:cubicBezTo>
                  <a:pt x="3705586" y="303993"/>
                  <a:pt x="3689672" y="319907"/>
                  <a:pt x="3670041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C52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17E69E7-F5D3-B9B7-C2F7-5536080DF144}"/>
              </a:ext>
            </a:extLst>
          </p:cNvPr>
          <p:cNvSpPr/>
          <p:nvPr/>
        </p:nvSpPr>
        <p:spPr>
          <a:xfrm>
            <a:off x="4314020" y="4514239"/>
            <a:ext cx="37322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00:00</a:t>
            </a:r>
            <a:endParaRPr lang="en-US" sz="160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60B15804-75C9-FA06-DFA8-E1109B4E0480}"/>
              </a:ext>
            </a:extLst>
          </p:cNvPr>
          <p:cNvSpPr/>
          <p:nvPr/>
        </p:nvSpPr>
        <p:spPr>
          <a:xfrm>
            <a:off x="7477819" y="4514239"/>
            <a:ext cx="4620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€11.62</a:t>
            </a:r>
            <a:endParaRPr lang="en-US" sz="160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937BEF4-9CE0-7EDB-DD7F-6EA83E120604}"/>
              </a:ext>
            </a:extLst>
          </p:cNvPr>
          <p:cNvSpPr/>
          <p:nvPr/>
        </p:nvSpPr>
        <p:spPr>
          <a:xfrm>
            <a:off x="4242929" y="4834146"/>
            <a:ext cx="3705586" cy="319907"/>
          </a:xfrm>
          <a:custGeom>
            <a:avLst/>
            <a:gdLst/>
            <a:ahLst/>
            <a:cxnLst/>
            <a:rect l="l" t="t" r="r" b="b"/>
            <a:pathLst>
              <a:path w="3705586" h="319907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284362"/>
                </a:lnTo>
                <a:cubicBezTo>
                  <a:pt x="3705586" y="303993"/>
                  <a:pt x="3689672" y="319907"/>
                  <a:pt x="3670041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14330770-9A84-7D89-A766-85C0FEAF6935}"/>
              </a:ext>
            </a:extLst>
          </p:cNvPr>
          <p:cNvSpPr/>
          <p:nvPr/>
        </p:nvSpPr>
        <p:spPr>
          <a:xfrm>
            <a:off x="4314020" y="4905236"/>
            <a:ext cx="37322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07:00</a:t>
            </a:r>
            <a:endParaRPr lang="en-US" sz="160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F24F03EF-71C0-7783-37EC-4C5BB73EC638}"/>
              </a:ext>
            </a:extLst>
          </p:cNvPr>
          <p:cNvSpPr/>
          <p:nvPr/>
        </p:nvSpPr>
        <p:spPr>
          <a:xfrm>
            <a:off x="7477819" y="4905236"/>
            <a:ext cx="4620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€12.99</a:t>
            </a:r>
            <a:endParaRPr lang="en-US" sz="160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A54F846-4288-2E27-F846-889D8DD50932}"/>
              </a:ext>
            </a:extLst>
          </p:cNvPr>
          <p:cNvSpPr/>
          <p:nvPr/>
        </p:nvSpPr>
        <p:spPr>
          <a:xfrm>
            <a:off x="4242929" y="5225143"/>
            <a:ext cx="3705586" cy="319907"/>
          </a:xfrm>
          <a:custGeom>
            <a:avLst/>
            <a:gdLst/>
            <a:ahLst/>
            <a:cxnLst/>
            <a:rect l="l" t="t" r="r" b="b"/>
            <a:pathLst>
              <a:path w="3705586" h="319907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284362"/>
                </a:lnTo>
                <a:cubicBezTo>
                  <a:pt x="3705586" y="303993"/>
                  <a:pt x="3689672" y="319907"/>
                  <a:pt x="3670041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AC7AC447-2EE9-5B1E-FBF1-702133E852F1}"/>
              </a:ext>
            </a:extLst>
          </p:cNvPr>
          <p:cNvSpPr/>
          <p:nvPr/>
        </p:nvSpPr>
        <p:spPr>
          <a:xfrm>
            <a:off x="4314020" y="5296233"/>
            <a:ext cx="373224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13:00</a:t>
            </a:r>
            <a:endParaRPr lang="en-US" sz="160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3DCD694-B70B-1796-122C-9851F9C87711}"/>
              </a:ext>
            </a:extLst>
          </p:cNvPr>
          <p:cNvSpPr/>
          <p:nvPr/>
        </p:nvSpPr>
        <p:spPr>
          <a:xfrm>
            <a:off x="7477819" y="5296233"/>
            <a:ext cx="462087" cy="17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€12.73</a:t>
            </a:r>
            <a:endParaRPr lang="en-US" sz="160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022FF8B2-22EA-C4FF-E421-9C10E390AE7A}"/>
              </a:ext>
            </a:extLst>
          </p:cNvPr>
          <p:cNvSpPr/>
          <p:nvPr/>
        </p:nvSpPr>
        <p:spPr>
          <a:xfrm>
            <a:off x="8130546" y="3305703"/>
            <a:ext cx="3785563" cy="248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9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Avoid Hours (&lt;€5 or Loss)</a:t>
            </a:r>
            <a:endParaRPr lang="en-US" sz="160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F6A4E07C-58E5-5B1C-BA05-8893B11EA044}"/>
              </a:ext>
            </a:extLst>
          </p:cNvPr>
          <p:cNvSpPr/>
          <p:nvPr/>
        </p:nvSpPr>
        <p:spPr>
          <a:xfrm>
            <a:off x="8130546" y="3661155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17F12724-200A-1FD7-B463-C4E79BC9BD76}"/>
              </a:ext>
            </a:extLst>
          </p:cNvPr>
          <p:cNvSpPr/>
          <p:nvPr/>
        </p:nvSpPr>
        <p:spPr>
          <a:xfrm>
            <a:off x="8201636" y="3732245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06:00</a:t>
            </a:r>
            <a:endParaRPr lang="en-US" sz="160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5387E9E-6EBF-179E-A634-42A009D09BE8}"/>
              </a:ext>
            </a:extLst>
          </p:cNvPr>
          <p:cNvSpPr/>
          <p:nvPr/>
        </p:nvSpPr>
        <p:spPr>
          <a:xfrm>
            <a:off x="11339332" y="3732245"/>
            <a:ext cx="4976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-€1.43</a:t>
            </a:r>
            <a:endParaRPr lang="en-US" sz="1600"/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AE74B3F7-F79A-D467-FD6E-7456F0C06F41}"/>
              </a:ext>
            </a:extLst>
          </p:cNvPr>
          <p:cNvSpPr/>
          <p:nvPr/>
        </p:nvSpPr>
        <p:spPr>
          <a:xfrm>
            <a:off x="8130546" y="4087697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2EF07CAA-F685-E925-03BC-AD312EB9DFAC}"/>
              </a:ext>
            </a:extLst>
          </p:cNvPr>
          <p:cNvSpPr/>
          <p:nvPr/>
        </p:nvSpPr>
        <p:spPr>
          <a:xfrm>
            <a:off x="8201636" y="4158787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12:00</a:t>
            </a:r>
            <a:endParaRPr lang="en-US" sz="160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FB0EE101-59CF-74A5-1018-69EA6C66E18F}"/>
              </a:ext>
            </a:extLst>
          </p:cNvPr>
          <p:cNvSpPr/>
          <p:nvPr/>
        </p:nvSpPr>
        <p:spPr>
          <a:xfrm>
            <a:off x="11386679" y="4158787"/>
            <a:ext cx="453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€1.84</a:t>
            </a:r>
            <a:endParaRPr lang="en-US" sz="1600"/>
          </a:p>
        </p:txBody>
      </p:sp>
      <p:sp>
        <p:nvSpPr>
          <p:cNvPr id="43" name="Shape 38">
            <a:extLst>
              <a:ext uri="{FF2B5EF4-FFF2-40B4-BE49-F238E27FC236}">
                <a16:creationId xmlns:a16="http://schemas.microsoft.com/office/drawing/2014/main" id="{8950791C-CDAC-0157-D9D7-BCAA92E8BFE9}"/>
              </a:ext>
            </a:extLst>
          </p:cNvPr>
          <p:cNvSpPr/>
          <p:nvPr/>
        </p:nvSpPr>
        <p:spPr>
          <a:xfrm>
            <a:off x="8130546" y="4514239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143C93E6-051E-729F-3051-06431E46FCFE}"/>
              </a:ext>
            </a:extLst>
          </p:cNvPr>
          <p:cNvSpPr/>
          <p:nvPr/>
        </p:nvSpPr>
        <p:spPr>
          <a:xfrm>
            <a:off x="8201636" y="4585329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05:00</a:t>
            </a:r>
            <a:endParaRPr lang="en-US" sz="160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4E980CB3-BD49-2C4C-64D8-C1964B9B4E15}"/>
              </a:ext>
            </a:extLst>
          </p:cNvPr>
          <p:cNvSpPr/>
          <p:nvPr/>
        </p:nvSpPr>
        <p:spPr>
          <a:xfrm>
            <a:off x="11386679" y="4585329"/>
            <a:ext cx="453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€5.44</a:t>
            </a:r>
            <a:endParaRPr lang="en-US" sz="1600"/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1376AB92-ACE7-A8EE-CBBD-49832A743B03}"/>
              </a:ext>
            </a:extLst>
          </p:cNvPr>
          <p:cNvSpPr/>
          <p:nvPr/>
        </p:nvSpPr>
        <p:spPr>
          <a:xfrm>
            <a:off x="8130546" y="4940781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7AA51272-51CB-7594-B87C-F4CF9F3784E9}"/>
              </a:ext>
            </a:extLst>
          </p:cNvPr>
          <p:cNvSpPr/>
          <p:nvPr/>
        </p:nvSpPr>
        <p:spPr>
          <a:xfrm>
            <a:off x="8201636" y="5011872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09:00</a:t>
            </a:r>
            <a:endParaRPr lang="en-US" sz="160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26F23BB9-13BB-F078-D4E8-2A748E9369CC}"/>
              </a:ext>
            </a:extLst>
          </p:cNvPr>
          <p:cNvSpPr/>
          <p:nvPr/>
        </p:nvSpPr>
        <p:spPr>
          <a:xfrm>
            <a:off x="11386679" y="5011872"/>
            <a:ext cx="453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€3.89</a:t>
            </a:r>
            <a:endParaRPr lang="en-US" sz="1600"/>
          </a:p>
        </p:txBody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D82FBD3C-F2A3-0A76-00C7-88399BD553F6}"/>
              </a:ext>
            </a:extLst>
          </p:cNvPr>
          <p:cNvSpPr/>
          <p:nvPr/>
        </p:nvSpPr>
        <p:spPr>
          <a:xfrm>
            <a:off x="8130546" y="5367324"/>
            <a:ext cx="3705586" cy="355452"/>
          </a:xfrm>
          <a:custGeom>
            <a:avLst/>
            <a:gdLst/>
            <a:ahLst/>
            <a:cxnLst/>
            <a:rect l="l" t="t" r="r" b="b"/>
            <a:pathLst>
              <a:path w="3705586" h="355452">
                <a:moveTo>
                  <a:pt x="35545" y="0"/>
                </a:moveTo>
                <a:lnTo>
                  <a:pt x="3670041" y="0"/>
                </a:lnTo>
                <a:cubicBezTo>
                  <a:pt x="3689672" y="0"/>
                  <a:pt x="3705586" y="15914"/>
                  <a:pt x="3705586" y="35545"/>
                </a:cubicBezTo>
                <a:lnTo>
                  <a:pt x="3705586" y="319907"/>
                </a:lnTo>
                <a:cubicBezTo>
                  <a:pt x="3705586" y="339538"/>
                  <a:pt x="3689672" y="355452"/>
                  <a:pt x="3670041" y="355452"/>
                </a:cubicBezTo>
                <a:lnTo>
                  <a:pt x="35545" y="355452"/>
                </a:lnTo>
                <a:cubicBezTo>
                  <a:pt x="15914" y="355452"/>
                  <a:pt x="0" y="339538"/>
                  <a:pt x="0" y="319907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B920861E-F6D8-B2A1-3627-B97035AF1AC0}"/>
              </a:ext>
            </a:extLst>
          </p:cNvPr>
          <p:cNvSpPr/>
          <p:nvPr/>
        </p:nvSpPr>
        <p:spPr>
          <a:xfrm>
            <a:off x="8201636" y="5438414"/>
            <a:ext cx="4265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14:00</a:t>
            </a:r>
            <a:endParaRPr lang="en-US" sz="160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59E5B682-7627-C8BE-DBAF-7BC621192D32}"/>
              </a:ext>
            </a:extLst>
          </p:cNvPr>
          <p:cNvSpPr/>
          <p:nvPr/>
        </p:nvSpPr>
        <p:spPr>
          <a:xfrm>
            <a:off x="11386679" y="5438414"/>
            <a:ext cx="453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€4.49</a:t>
            </a:r>
            <a:endParaRPr lang="en-US" sz="1600"/>
          </a:p>
        </p:txBody>
      </p:sp>
      <p:sp>
        <p:nvSpPr>
          <p:cNvPr id="52" name="Shape 47">
            <a:extLst>
              <a:ext uri="{FF2B5EF4-FFF2-40B4-BE49-F238E27FC236}">
                <a16:creationId xmlns:a16="http://schemas.microsoft.com/office/drawing/2014/main" id="{1CE09357-BE35-4C11-7DD2-3384AA80ED15}"/>
              </a:ext>
            </a:extLst>
          </p:cNvPr>
          <p:cNvSpPr/>
          <p:nvPr/>
        </p:nvSpPr>
        <p:spPr>
          <a:xfrm>
            <a:off x="373224" y="5864956"/>
            <a:ext cx="11463324" cy="639813"/>
          </a:xfrm>
          <a:custGeom>
            <a:avLst/>
            <a:gdLst/>
            <a:ahLst/>
            <a:cxnLst/>
            <a:rect l="l" t="t" r="r" b="b"/>
            <a:pathLst>
              <a:path w="11463324" h="639813">
                <a:moveTo>
                  <a:pt x="35545" y="0"/>
                </a:moveTo>
                <a:lnTo>
                  <a:pt x="11392234" y="0"/>
                </a:lnTo>
                <a:cubicBezTo>
                  <a:pt x="11431496" y="0"/>
                  <a:pt x="11463324" y="31828"/>
                  <a:pt x="11463324" y="71090"/>
                </a:cubicBezTo>
                <a:lnTo>
                  <a:pt x="11463324" y="568724"/>
                </a:lnTo>
                <a:cubicBezTo>
                  <a:pt x="11463324" y="607985"/>
                  <a:pt x="11431496" y="639813"/>
                  <a:pt x="11392234" y="639813"/>
                </a:cubicBezTo>
                <a:lnTo>
                  <a:pt x="35545" y="639813"/>
                </a:lnTo>
                <a:cubicBezTo>
                  <a:pt x="15914" y="639813"/>
                  <a:pt x="0" y="623899"/>
                  <a:pt x="0" y="604268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99896566-BA93-6F1F-D0B0-FCF7886B3C0D}"/>
              </a:ext>
            </a:extLst>
          </p:cNvPr>
          <p:cNvSpPr/>
          <p:nvPr/>
        </p:nvSpPr>
        <p:spPr>
          <a:xfrm>
            <a:off x="533178" y="6007137"/>
            <a:ext cx="11223394" cy="35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Pattern:</a:t>
            </a:r>
            <a:r>
              <a:rPr lang="en-US" sz="98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Evening peak hours (19-23h) consistently deliver highest profitability, likely due to demand surge and increased price volatility. Early morning hours (5-6h) and midday (11-14h) show weakest performance and should be avoided.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10667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B722BB-03B5-0910-7D27-08B6446F1F2A}"/>
              </a:ext>
            </a:extLst>
          </p:cNvPr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51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THRESHOLD OPTIMIZATION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C2B706C-A5BD-1F64-1203-B93EAD5BE396}"/>
              </a:ext>
            </a:extLst>
          </p:cNvPr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Risk-Return Trade-offs</a:t>
            </a:r>
            <a:endParaRPr lang="en-US" sz="16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F6B3A9C-1BDC-0D87-1F87-09D2AB12CAA1}"/>
              </a:ext>
            </a:extLst>
          </p:cNvPr>
          <p:cNvSpPr/>
          <p:nvPr/>
        </p:nvSpPr>
        <p:spPr>
          <a:xfrm>
            <a:off x="354221" y="3695668"/>
            <a:ext cx="5697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DAM-BM Threshold Analysis</a:t>
            </a:r>
            <a:endParaRPr lang="en-US" sz="16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B072CEE-36F4-A59A-8ABA-023F30C6781D}"/>
              </a:ext>
            </a:extLst>
          </p:cNvPr>
          <p:cNvSpPr/>
          <p:nvPr/>
        </p:nvSpPr>
        <p:spPr>
          <a:xfrm>
            <a:off x="379842" y="4066245"/>
            <a:ext cx="5595720" cy="426165"/>
          </a:xfrm>
          <a:custGeom>
            <a:avLst/>
            <a:gdLst/>
            <a:ahLst/>
            <a:cxnLst/>
            <a:rect l="l" t="t" r="r" b="b"/>
            <a:pathLst>
              <a:path w="5595720" h="611453">
                <a:moveTo>
                  <a:pt x="74114" y="0"/>
                </a:moveTo>
                <a:lnTo>
                  <a:pt x="5521606" y="0"/>
                </a:lnTo>
                <a:cubicBezTo>
                  <a:pt x="5562538" y="0"/>
                  <a:pt x="5595720" y="33182"/>
                  <a:pt x="5595720" y="74114"/>
                </a:cubicBezTo>
                <a:lnTo>
                  <a:pt x="5595720" y="537339"/>
                </a:lnTo>
                <a:cubicBezTo>
                  <a:pt x="5595720" y="578271"/>
                  <a:pt x="5562538" y="611453"/>
                  <a:pt x="5521606" y="611453"/>
                </a:cubicBezTo>
                <a:lnTo>
                  <a:pt x="74114" y="611453"/>
                </a:lnTo>
                <a:cubicBezTo>
                  <a:pt x="33209" y="611453"/>
                  <a:pt x="0" y="578243"/>
                  <a:pt x="0" y="537339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solidFill>
            <a:srgbClr val="38A169"/>
          </a:solidFill>
          <a:ln w="254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6F1245D-C458-4D40-EA5F-60B1FDBBCD76}"/>
              </a:ext>
            </a:extLst>
          </p:cNvPr>
          <p:cNvSpPr/>
          <p:nvPr/>
        </p:nvSpPr>
        <p:spPr>
          <a:xfrm>
            <a:off x="500280" y="4102741"/>
            <a:ext cx="870857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Optimal: €50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9B17FD9-0D72-A02B-AE58-4200A4F5D382}"/>
              </a:ext>
            </a:extLst>
          </p:cNvPr>
          <p:cNvSpPr/>
          <p:nvPr/>
        </p:nvSpPr>
        <p:spPr>
          <a:xfrm>
            <a:off x="5078650" y="4141203"/>
            <a:ext cx="833799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€12.68/MWh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C3C4EC4-2DA3-344B-1C44-7BC929EB2EC8}"/>
              </a:ext>
            </a:extLst>
          </p:cNvPr>
          <p:cNvSpPr/>
          <p:nvPr/>
        </p:nvSpPr>
        <p:spPr>
          <a:xfrm>
            <a:off x="500280" y="4317789"/>
            <a:ext cx="5410432" cy="10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44.6% accuracy | 5,744 trades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BAFD597-AB9D-E23F-F431-7C34071EB380}"/>
              </a:ext>
            </a:extLst>
          </p:cNvPr>
          <p:cNvSpPr/>
          <p:nvPr/>
        </p:nvSpPr>
        <p:spPr>
          <a:xfrm>
            <a:off x="370578" y="4521046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6DE3517-6C2C-D595-267C-3B7EECE589AA}"/>
              </a:ext>
            </a:extLst>
          </p:cNvPr>
          <p:cNvSpPr/>
          <p:nvPr/>
        </p:nvSpPr>
        <p:spPr>
          <a:xfrm>
            <a:off x="444693" y="4751252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€10 threshold:</a:t>
            </a:r>
            <a:endParaRPr lang="en-US" sz="16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BD68B89-115A-0D06-64B6-0A196764CBC3}"/>
              </a:ext>
            </a:extLst>
          </p:cNvPr>
          <p:cNvSpPr/>
          <p:nvPr/>
        </p:nvSpPr>
        <p:spPr>
          <a:xfrm>
            <a:off x="4420729" y="4751252"/>
            <a:ext cx="1556426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€11.02/MWh (29.7% acc)</a:t>
            </a:r>
            <a:endParaRPr lang="en-US" sz="16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7B96E2E-8887-E6AD-AE12-0FC2B3F780A1}"/>
              </a:ext>
            </a:extLst>
          </p:cNvPr>
          <p:cNvSpPr/>
          <p:nvPr/>
        </p:nvSpPr>
        <p:spPr>
          <a:xfrm>
            <a:off x="370578" y="5113969"/>
            <a:ext cx="5614249" cy="232454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FF9E10B-729E-874D-071F-FB68016713C6}"/>
              </a:ext>
            </a:extLst>
          </p:cNvPr>
          <p:cNvSpPr/>
          <p:nvPr/>
        </p:nvSpPr>
        <p:spPr>
          <a:xfrm>
            <a:off x="444693" y="5158887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€30 threshold:</a:t>
            </a:r>
            <a:endParaRPr lang="en-US" sz="16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64C9D88-A543-8E4B-E0F2-72F8ACA574D0}"/>
              </a:ext>
            </a:extLst>
          </p:cNvPr>
          <p:cNvSpPr/>
          <p:nvPr/>
        </p:nvSpPr>
        <p:spPr>
          <a:xfrm>
            <a:off x="4420729" y="5158887"/>
            <a:ext cx="1556426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€10.96/MWh (36.5% acc)</a:t>
            </a:r>
            <a:endParaRPr lang="en-US" sz="16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28E4BBB-D37D-81D1-E561-03298F71E010}"/>
              </a:ext>
            </a:extLst>
          </p:cNvPr>
          <p:cNvSpPr/>
          <p:nvPr/>
        </p:nvSpPr>
        <p:spPr>
          <a:xfrm>
            <a:off x="370578" y="5521604"/>
            <a:ext cx="5614249" cy="232454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9BE64A0-B646-6097-1B55-6ABCEC546CCB}"/>
              </a:ext>
            </a:extLst>
          </p:cNvPr>
          <p:cNvSpPr/>
          <p:nvPr/>
        </p:nvSpPr>
        <p:spPr>
          <a:xfrm>
            <a:off x="444693" y="5566523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€70 threshold:</a:t>
            </a:r>
            <a:endParaRPr lang="en-US" sz="16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13CA583-7547-45FF-DBA0-4ED549EEAA8D}"/>
              </a:ext>
            </a:extLst>
          </p:cNvPr>
          <p:cNvSpPr/>
          <p:nvPr/>
        </p:nvSpPr>
        <p:spPr>
          <a:xfrm>
            <a:off x="4420729" y="5566523"/>
            <a:ext cx="1556426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€12.20/MWh (53.1% acc)</a:t>
            </a:r>
            <a:endParaRPr lang="en-US" sz="16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BB865DC-E34C-0602-CCF0-89E450D5D2EA}"/>
              </a:ext>
            </a:extLst>
          </p:cNvPr>
          <p:cNvSpPr/>
          <p:nvPr/>
        </p:nvSpPr>
        <p:spPr>
          <a:xfrm>
            <a:off x="6188645" y="3695668"/>
            <a:ext cx="56976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IDA1-BM Threshold Analysis</a:t>
            </a:r>
            <a:endParaRPr lang="en-US" sz="16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5DEC508-0753-7E65-42EA-F413BFD8E818}"/>
              </a:ext>
            </a:extLst>
          </p:cNvPr>
          <p:cNvSpPr/>
          <p:nvPr/>
        </p:nvSpPr>
        <p:spPr>
          <a:xfrm>
            <a:off x="6214266" y="4066245"/>
            <a:ext cx="5595720" cy="426165"/>
          </a:xfrm>
          <a:custGeom>
            <a:avLst/>
            <a:gdLst/>
            <a:ahLst/>
            <a:cxnLst/>
            <a:rect l="l" t="t" r="r" b="b"/>
            <a:pathLst>
              <a:path w="5595720" h="611453">
                <a:moveTo>
                  <a:pt x="74114" y="0"/>
                </a:moveTo>
                <a:lnTo>
                  <a:pt x="5521606" y="0"/>
                </a:lnTo>
                <a:cubicBezTo>
                  <a:pt x="5562538" y="0"/>
                  <a:pt x="5595720" y="33182"/>
                  <a:pt x="5595720" y="74114"/>
                </a:cubicBezTo>
                <a:lnTo>
                  <a:pt x="5595720" y="537339"/>
                </a:lnTo>
                <a:cubicBezTo>
                  <a:pt x="5595720" y="578271"/>
                  <a:pt x="5562538" y="611453"/>
                  <a:pt x="5521606" y="611453"/>
                </a:cubicBezTo>
                <a:lnTo>
                  <a:pt x="74114" y="611453"/>
                </a:lnTo>
                <a:cubicBezTo>
                  <a:pt x="33209" y="611453"/>
                  <a:pt x="0" y="578243"/>
                  <a:pt x="0" y="537339"/>
                </a:cubicBezTo>
                <a:lnTo>
                  <a:pt x="0" y="74114"/>
                </a:lnTo>
                <a:cubicBezTo>
                  <a:pt x="0" y="33209"/>
                  <a:pt x="33209" y="0"/>
                  <a:pt x="74114" y="0"/>
                </a:cubicBezTo>
                <a:close/>
              </a:path>
            </a:pathLst>
          </a:custGeom>
          <a:solidFill>
            <a:srgbClr val="38A169"/>
          </a:solidFill>
          <a:ln w="254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07B854F-AE50-F621-FB2F-B487E5B7B238}"/>
              </a:ext>
            </a:extLst>
          </p:cNvPr>
          <p:cNvSpPr/>
          <p:nvPr/>
        </p:nvSpPr>
        <p:spPr>
          <a:xfrm>
            <a:off x="6334704" y="4102741"/>
            <a:ext cx="870857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Optimal: €70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0E7FEA2-1B9D-8FDB-9ED1-E28E990F80D9}"/>
              </a:ext>
            </a:extLst>
          </p:cNvPr>
          <p:cNvSpPr/>
          <p:nvPr/>
        </p:nvSpPr>
        <p:spPr>
          <a:xfrm>
            <a:off x="10985452" y="4141203"/>
            <a:ext cx="75968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€5.17/MWh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09D5E28-3FA2-D52A-8E27-4B0CA7803282}"/>
              </a:ext>
            </a:extLst>
          </p:cNvPr>
          <p:cNvSpPr/>
          <p:nvPr/>
        </p:nvSpPr>
        <p:spPr>
          <a:xfrm>
            <a:off x="6334704" y="4317789"/>
            <a:ext cx="5410432" cy="10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59.1% accuracy | 3,696 trades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918E9F0-9D1E-7985-FB67-0FD0DF638BD6}"/>
              </a:ext>
            </a:extLst>
          </p:cNvPr>
          <p:cNvSpPr/>
          <p:nvPr/>
        </p:nvSpPr>
        <p:spPr>
          <a:xfrm>
            <a:off x="6205002" y="4706334"/>
            <a:ext cx="5614249" cy="232454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851ACFA-30EB-39B0-2913-F5C46B5B3F0A}"/>
              </a:ext>
            </a:extLst>
          </p:cNvPr>
          <p:cNvSpPr/>
          <p:nvPr/>
        </p:nvSpPr>
        <p:spPr>
          <a:xfrm>
            <a:off x="6279117" y="4751252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€30 threshold:</a:t>
            </a:r>
            <a:endParaRPr lang="en-US" sz="16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F554D8D-B1C1-05E0-3DBC-CCC4098C4117}"/>
              </a:ext>
            </a:extLst>
          </p:cNvPr>
          <p:cNvSpPr/>
          <p:nvPr/>
        </p:nvSpPr>
        <p:spPr>
          <a:xfrm>
            <a:off x="10327387" y="4751252"/>
            <a:ext cx="1482310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€0.06/MWh (36.5% acc)</a:t>
            </a:r>
            <a:endParaRPr lang="en-US" sz="160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9BD981FC-49B3-E92D-6FE0-DEFCB9E69D2F}"/>
              </a:ext>
            </a:extLst>
          </p:cNvPr>
          <p:cNvSpPr/>
          <p:nvPr/>
        </p:nvSpPr>
        <p:spPr>
          <a:xfrm>
            <a:off x="6205002" y="5113969"/>
            <a:ext cx="5614249" cy="232454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C597FC8-BEE6-7E6D-5995-1391A18A9F83}"/>
              </a:ext>
            </a:extLst>
          </p:cNvPr>
          <p:cNvSpPr/>
          <p:nvPr/>
        </p:nvSpPr>
        <p:spPr>
          <a:xfrm>
            <a:off x="6279117" y="5158887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€50 threshold:</a:t>
            </a:r>
            <a:endParaRPr lang="en-US" sz="16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72EC4FE-8D61-0BD1-5E4F-913DC7330B0B}"/>
              </a:ext>
            </a:extLst>
          </p:cNvPr>
          <p:cNvSpPr/>
          <p:nvPr/>
        </p:nvSpPr>
        <p:spPr>
          <a:xfrm>
            <a:off x="10327387" y="5158887"/>
            <a:ext cx="1482310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€4.57/MWh (47.2% acc)</a:t>
            </a:r>
            <a:endParaRPr lang="en-US" sz="160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A12EDC19-C123-2F74-5E2C-DB5D50181C8C}"/>
              </a:ext>
            </a:extLst>
          </p:cNvPr>
          <p:cNvSpPr/>
          <p:nvPr/>
        </p:nvSpPr>
        <p:spPr>
          <a:xfrm>
            <a:off x="6205002" y="5336316"/>
            <a:ext cx="5614249" cy="333520"/>
          </a:xfrm>
          <a:custGeom>
            <a:avLst/>
            <a:gdLst/>
            <a:ahLst/>
            <a:cxnLst/>
            <a:rect l="l" t="t" r="r" b="b"/>
            <a:pathLst>
              <a:path w="5614249" h="333520">
                <a:moveTo>
                  <a:pt x="37057" y="0"/>
                </a:moveTo>
                <a:lnTo>
                  <a:pt x="5577192" y="0"/>
                </a:lnTo>
                <a:cubicBezTo>
                  <a:pt x="5597658" y="0"/>
                  <a:pt x="5614249" y="16591"/>
                  <a:pt x="5614249" y="37057"/>
                </a:cubicBezTo>
                <a:lnTo>
                  <a:pt x="5614249" y="296462"/>
                </a:lnTo>
                <a:cubicBezTo>
                  <a:pt x="5614249" y="316929"/>
                  <a:pt x="5597658" y="333520"/>
                  <a:pt x="5577192" y="333520"/>
                </a:cubicBezTo>
                <a:lnTo>
                  <a:pt x="37057" y="333520"/>
                </a:lnTo>
                <a:cubicBezTo>
                  <a:pt x="16605" y="333520"/>
                  <a:pt x="0" y="316915"/>
                  <a:pt x="0" y="296462"/>
                </a:cubicBezTo>
                <a:lnTo>
                  <a:pt x="0" y="37057"/>
                </a:lnTo>
                <a:cubicBezTo>
                  <a:pt x="0" y="16605"/>
                  <a:pt x="16605" y="0"/>
                  <a:pt x="3705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2E71BAB-B91C-FE5D-5482-7E7361973CA3}"/>
              </a:ext>
            </a:extLst>
          </p:cNvPr>
          <p:cNvSpPr/>
          <p:nvPr/>
        </p:nvSpPr>
        <p:spPr>
          <a:xfrm>
            <a:off x="6279117" y="5566523"/>
            <a:ext cx="907915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€90 threshold:</a:t>
            </a:r>
            <a:endParaRPr lang="en-US" sz="16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1F1D55B2-3E8D-09D1-D228-AD5FFD80A5F7}"/>
              </a:ext>
            </a:extLst>
          </p:cNvPr>
          <p:cNvSpPr/>
          <p:nvPr/>
        </p:nvSpPr>
        <p:spPr>
          <a:xfrm>
            <a:off x="10327387" y="5566523"/>
            <a:ext cx="1482310" cy="1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€3.19/MWh (68.2% acc)</a:t>
            </a:r>
            <a:endParaRPr lang="en-US" sz="160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D94A6108-5412-20C2-622A-92327A9C4DFD}"/>
              </a:ext>
            </a:extLst>
          </p:cNvPr>
          <p:cNvSpPr/>
          <p:nvPr/>
        </p:nvSpPr>
        <p:spPr>
          <a:xfrm>
            <a:off x="370578" y="5818067"/>
            <a:ext cx="11450845" cy="667040"/>
          </a:xfrm>
          <a:custGeom>
            <a:avLst/>
            <a:gdLst/>
            <a:ahLst/>
            <a:cxnLst/>
            <a:rect l="l" t="t" r="r" b="b"/>
            <a:pathLst>
              <a:path w="11450845" h="667040">
                <a:moveTo>
                  <a:pt x="74115" y="0"/>
                </a:moveTo>
                <a:lnTo>
                  <a:pt x="11376730" y="0"/>
                </a:lnTo>
                <a:cubicBezTo>
                  <a:pt x="11417663" y="0"/>
                  <a:pt x="11450845" y="33182"/>
                  <a:pt x="11450845" y="74115"/>
                </a:cubicBezTo>
                <a:lnTo>
                  <a:pt x="11450845" y="592925"/>
                </a:lnTo>
                <a:cubicBezTo>
                  <a:pt x="11450845" y="633857"/>
                  <a:pt x="11417663" y="667040"/>
                  <a:pt x="11376730" y="667040"/>
                </a:cubicBezTo>
                <a:lnTo>
                  <a:pt x="74115" y="667040"/>
                </a:lnTo>
                <a:cubicBezTo>
                  <a:pt x="33210" y="667040"/>
                  <a:pt x="0" y="633830"/>
                  <a:pt x="0" y="592925"/>
                </a:cubicBezTo>
                <a:lnTo>
                  <a:pt x="0" y="74115"/>
                </a:lnTo>
                <a:cubicBezTo>
                  <a:pt x="0" y="33210"/>
                  <a:pt x="33210" y="0"/>
                  <a:pt x="74115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ADE61075-2C50-B367-479F-4B3456166810}"/>
              </a:ext>
            </a:extLst>
          </p:cNvPr>
          <p:cNvSpPr/>
          <p:nvPr/>
        </p:nvSpPr>
        <p:spPr>
          <a:xfrm>
            <a:off x="518809" y="5966298"/>
            <a:ext cx="11219234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r>
              <a:rPr lang="en-US" sz="102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Higher thresholds increase accuracy but reduce trade frequency. The optimal threshold balances profit per trade with sufficient volume. For DAM-BM, €50 threshold delivers maximum profit per MWh (€12.68); for IDA1-BM, €70 threshold is optimal (€5.17).</a:t>
            </a:r>
            <a:endParaRPr lang="en-US" sz="1600"/>
          </a:p>
        </p:txBody>
      </p:sp>
      <p:pic>
        <p:nvPicPr>
          <p:cNvPr id="36" name="Picture 35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E2DF605A-17A3-15E3-4F6F-97605F2D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1" y="1022848"/>
            <a:ext cx="10337316" cy="26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3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graph of a graph showing the number of trading hours&#10;&#10;AI-generated content may be incorrect.">
            <a:extLst>
              <a:ext uri="{FF2B5EF4-FFF2-40B4-BE49-F238E27FC236}">
                <a16:creationId xmlns:a16="http://schemas.microsoft.com/office/drawing/2014/main" id="{D96653CD-D54A-894C-531B-22EEF2BC1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77" y="438445"/>
            <a:ext cx="9461562" cy="2973489"/>
          </a:xfrm>
          <a:prstGeom prst="rect">
            <a:avLst/>
          </a:prstGeom>
        </p:spPr>
      </p:pic>
      <p:pic>
        <p:nvPicPr>
          <p:cNvPr id="37" name="Picture 36" descr="A graph of a graph showing the number of trading hours&#10;&#10;AI-generated content may be incorrect.">
            <a:extLst>
              <a:ext uri="{FF2B5EF4-FFF2-40B4-BE49-F238E27FC236}">
                <a16:creationId xmlns:a16="http://schemas.microsoft.com/office/drawing/2014/main" id="{4391D3F6-6190-8EBE-AA34-407E353C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77" y="472574"/>
            <a:ext cx="8890062" cy="297348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63636C0-561E-A6C5-DA98-461731B2ADB3}"/>
              </a:ext>
            </a:extLst>
          </p:cNvPr>
          <p:cNvSpPr/>
          <p:nvPr/>
        </p:nvSpPr>
        <p:spPr>
          <a:xfrm>
            <a:off x="341274" y="165428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47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MANAGEMENT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8664E4F-4EE5-D81E-A49A-97CF1ABE756B}"/>
              </a:ext>
            </a:extLst>
          </p:cNvPr>
          <p:cNvSpPr/>
          <p:nvPr/>
        </p:nvSpPr>
        <p:spPr>
          <a:xfrm>
            <a:off x="341274" y="404318"/>
            <a:ext cx="1971103" cy="145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NOT to Trade</a:t>
            </a:r>
            <a:endParaRPr lang="en-US" sz="16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2870D3F-DB55-49A5-4200-03F5D154E599}"/>
              </a:ext>
            </a:extLst>
          </p:cNvPr>
          <p:cNvSpPr/>
          <p:nvPr/>
        </p:nvSpPr>
        <p:spPr>
          <a:xfrm>
            <a:off x="341274" y="3429000"/>
            <a:ext cx="573339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Loss-Making Hours</a:t>
            </a:r>
            <a:endParaRPr lang="en-US" sz="16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7565169-E4D8-1654-7A52-180EF2B0B993}"/>
              </a:ext>
            </a:extLst>
          </p:cNvPr>
          <p:cNvSpPr/>
          <p:nvPr/>
        </p:nvSpPr>
        <p:spPr>
          <a:xfrm>
            <a:off x="341274" y="3770273"/>
            <a:ext cx="5656610" cy="580165"/>
          </a:xfrm>
          <a:custGeom>
            <a:avLst/>
            <a:gdLst/>
            <a:ahLst/>
            <a:cxnLst/>
            <a:rect l="l" t="t" r="r" b="b"/>
            <a:pathLst>
              <a:path w="5656610" h="580165">
                <a:moveTo>
                  <a:pt x="68256" y="0"/>
                </a:moveTo>
                <a:lnTo>
                  <a:pt x="5588354" y="0"/>
                </a:lnTo>
                <a:cubicBezTo>
                  <a:pt x="5626051" y="0"/>
                  <a:pt x="5656610" y="30559"/>
                  <a:pt x="5656610" y="68256"/>
                </a:cubicBezTo>
                <a:lnTo>
                  <a:pt x="5656610" y="511909"/>
                </a:lnTo>
                <a:cubicBezTo>
                  <a:pt x="5656610" y="549606"/>
                  <a:pt x="5626051" y="580165"/>
                  <a:pt x="5588354" y="580165"/>
                </a:cubicBezTo>
                <a:lnTo>
                  <a:pt x="68256" y="580165"/>
                </a:lnTo>
                <a:cubicBezTo>
                  <a:pt x="30559" y="580165"/>
                  <a:pt x="0" y="549606"/>
                  <a:pt x="0" y="511909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97914FF-CD7D-A34F-8AF2-FA49C902C53F}"/>
              </a:ext>
            </a:extLst>
          </p:cNvPr>
          <p:cNvSpPr/>
          <p:nvPr/>
        </p:nvSpPr>
        <p:spPr>
          <a:xfrm>
            <a:off x="443656" y="3889719"/>
            <a:ext cx="111767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06:00 (DAM-BM)</a:t>
            </a:r>
            <a:endParaRPr lang="en-US" sz="160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EA78035-6DC8-20F3-57E0-787ED9E94249}"/>
              </a:ext>
            </a:extLst>
          </p:cNvPr>
          <p:cNvSpPr/>
          <p:nvPr/>
        </p:nvSpPr>
        <p:spPr>
          <a:xfrm>
            <a:off x="5376659" y="3872655"/>
            <a:ext cx="59722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-€1.43</a:t>
            </a:r>
            <a:endParaRPr lang="en-US" sz="16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8678925-A292-528A-E9CD-B6F114994DA2}"/>
              </a:ext>
            </a:extLst>
          </p:cNvPr>
          <p:cNvSpPr/>
          <p:nvPr/>
        </p:nvSpPr>
        <p:spPr>
          <a:xfrm>
            <a:off x="443656" y="4111547"/>
            <a:ext cx="550303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morning demand trough</a:t>
            </a:r>
            <a:endParaRPr lang="en-US" sz="16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A1E8D72-6AFD-DA68-A4A7-C72518585799}"/>
              </a:ext>
            </a:extLst>
          </p:cNvPr>
          <p:cNvSpPr/>
          <p:nvPr/>
        </p:nvSpPr>
        <p:spPr>
          <a:xfrm>
            <a:off x="341274" y="4418693"/>
            <a:ext cx="5656610" cy="580165"/>
          </a:xfrm>
          <a:custGeom>
            <a:avLst/>
            <a:gdLst/>
            <a:ahLst/>
            <a:cxnLst/>
            <a:rect l="l" t="t" r="r" b="b"/>
            <a:pathLst>
              <a:path w="5656610" h="580165">
                <a:moveTo>
                  <a:pt x="68256" y="0"/>
                </a:moveTo>
                <a:lnTo>
                  <a:pt x="5588354" y="0"/>
                </a:lnTo>
                <a:cubicBezTo>
                  <a:pt x="5626051" y="0"/>
                  <a:pt x="5656610" y="30559"/>
                  <a:pt x="5656610" y="68256"/>
                </a:cubicBezTo>
                <a:lnTo>
                  <a:pt x="5656610" y="511909"/>
                </a:lnTo>
                <a:cubicBezTo>
                  <a:pt x="5656610" y="549606"/>
                  <a:pt x="5626051" y="580165"/>
                  <a:pt x="5588354" y="580165"/>
                </a:cubicBezTo>
                <a:lnTo>
                  <a:pt x="68256" y="580165"/>
                </a:lnTo>
                <a:cubicBezTo>
                  <a:pt x="30559" y="580165"/>
                  <a:pt x="0" y="549606"/>
                  <a:pt x="0" y="511909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314CCCF-256C-7A12-916B-854F7536BAA9}"/>
              </a:ext>
            </a:extLst>
          </p:cNvPr>
          <p:cNvSpPr/>
          <p:nvPr/>
        </p:nvSpPr>
        <p:spPr>
          <a:xfrm>
            <a:off x="443656" y="4538139"/>
            <a:ext cx="151013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11:00-14:00 (IDA1-BM)</a:t>
            </a:r>
            <a:endParaRPr lang="en-US" sz="16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38C8F79-C9AE-878E-F1D3-547D3A24C218}"/>
              </a:ext>
            </a:extLst>
          </p:cNvPr>
          <p:cNvSpPr/>
          <p:nvPr/>
        </p:nvSpPr>
        <p:spPr>
          <a:xfrm>
            <a:off x="4604794" y="4521075"/>
            <a:ext cx="137362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-€6.16 to -€0.16</a:t>
            </a:r>
            <a:endParaRPr lang="en-US" sz="160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B2ED736-036E-9202-EE87-5DFD8176D8B9}"/>
              </a:ext>
            </a:extLst>
          </p:cNvPr>
          <p:cNvSpPr/>
          <p:nvPr/>
        </p:nvSpPr>
        <p:spPr>
          <a:xfrm>
            <a:off x="443656" y="4759967"/>
            <a:ext cx="550303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Midday solar generation peak</a:t>
            </a:r>
            <a:endParaRPr lang="en-US" sz="16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46166A4-C120-D948-4B61-88D3438FFFE7}"/>
              </a:ext>
            </a:extLst>
          </p:cNvPr>
          <p:cNvSpPr/>
          <p:nvPr/>
        </p:nvSpPr>
        <p:spPr>
          <a:xfrm>
            <a:off x="341274" y="5067113"/>
            <a:ext cx="5656610" cy="580165"/>
          </a:xfrm>
          <a:custGeom>
            <a:avLst/>
            <a:gdLst/>
            <a:ahLst/>
            <a:cxnLst/>
            <a:rect l="l" t="t" r="r" b="b"/>
            <a:pathLst>
              <a:path w="5656610" h="580165">
                <a:moveTo>
                  <a:pt x="68256" y="0"/>
                </a:moveTo>
                <a:lnTo>
                  <a:pt x="5588354" y="0"/>
                </a:lnTo>
                <a:cubicBezTo>
                  <a:pt x="5626051" y="0"/>
                  <a:pt x="5656610" y="30559"/>
                  <a:pt x="5656610" y="68256"/>
                </a:cubicBezTo>
                <a:lnTo>
                  <a:pt x="5656610" y="511909"/>
                </a:lnTo>
                <a:cubicBezTo>
                  <a:pt x="5656610" y="549606"/>
                  <a:pt x="5626051" y="580165"/>
                  <a:pt x="5588354" y="580165"/>
                </a:cubicBezTo>
                <a:lnTo>
                  <a:pt x="68256" y="580165"/>
                </a:lnTo>
                <a:cubicBezTo>
                  <a:pt x="30559" y="580165"/>
                  <a:pt x="0" y="549606"/>
                  <a:pt x="0" y="511909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AFF9B36-C693-70F4-06A9-6AB47AFAFAC9}"/>
              </a:ext>
            </a:extLst>
          </p:cNvPr>
          <p:cNvSpPr/>
          <p:nvPr/>
        </p:nvSpPr>
        <p:spPr>
          <a:xfrm>
            <a:off x="443656" y="5186559"/>
            <a:ext cx="111767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16:00 (IDA1-BM)</a:t>
            </a:r>
            <a:endParaRPr lang="en-US" sz="16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3461319-E90F-C4D1-DD55-CD79E3006EF3}"/>
              </a:ext>
            </a:extLst>
          </p:cNvPr>
          <p:cNvSpPr/>
          <p:nvPr/>
        </p:nvSpPr>
        <p:spPr>
          <a:xfrm>
            <a:off x="5281742" y="5169495"/>
            <a:ext cx="69961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-€10.58</a:t>
            </a:r>
            <a:endParaRPr lang="en-US" sz="16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7D25147D-2976-1263-75AE-62B0C26836B9}"/>
              </a:ext>
            </a:extLst>
          </p:cNvPr>
          <p:cNvSpPr/>
          <p:nvPr/>
        </p:nvSpPr>
        <p:spPr>
          <a:xfrm>
            <a:off x="443656" y="5408387"/>
            <a:ext cx="550303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Afternoon demand transition</a:t>
            </a:r>
            <a:endParaRPr lang="en-US" sz="16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4DFE6AC-B8E0-C108-DD17-4986B35AF7BA}"/>
              </a:ext>
            </a:extLst>
          </p:cNvPr>
          <p:cNvSpPr/>
          <p:nvPr/>
        </p:nvSpPr>
        <p:spPr>
          <a:xfrm>
            <a:off x="6199715" y="3429000"/>
            <a:ext cx="573339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Mitigation Strategies</a:t>
            </a:r>
            <a:endParaRPr lang="en-US" sz="16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D2E96E1-3FEB-6511-3CB5-1E017F695D9C}"/>
              </a:ext>
            </a:extLst>
          </p:cNvPr>
          <p:cNvSpPr/>
          <p:nvPr/>
        </p:nvSpPr>
        <p:spPr>
          <a:xfrm>
            <a:off x="6216779" y="3770273"/>
            <a:ext cx="5639547" cy="511910"/>
          </a:xfrm>
          <a:custGeom>
            <a:avLst/>
            <a:gdLst/>
            <a:ahLst/>
            <a:cxnLst/>
            <a:rect l="l" t="t" r="r" b="b"/>
            <a:pathLst>
              <a:path w="5639547" h="511910">
                <a:moveTo>
                  <a:pt x="34127" y="0"/>
                </a:moveTo>
                <a:lnTo>
                  <a:pt x="5571294" y="0"/>
                </a:lnTo>
                <a:cubicBezTo>
                  <a:pt x="5608989" y="0"/>
                  <a:pt x="5639547" y="30558"/>
                  <a:pt x="5639547" y="68253"/>
                </a:cubicBezTo>
                <a:lnTo>
                  <a:pt x="5639547" y="443657"/>
                </a:lnTo>
                <a:cubicBezTo>
                  <a:pt x="5639547" y="481353"/>
                  <a:pt x="5608989" y="511910"/>
                  <a:pt x="5571294" y="511910"/>
                </a:cubicBezTo>
                <a:lnTo>
                  <a:pt x="34127" y="511910"/>
                </a:lnTo>
                <a:cubicBezTo>
                  <a:pt x="15279" y="511910"/>
                  <a:pt x="0" y="496631"/>
                  <a:pt x="0" y="47778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59DE9A2-6942-95B5-C00D-1BE5369CDBD8}"/>
              </a:ext>
            </a:extLst>
          </p:cNvPr>
          <p:cNvSpPr/>
          <p:nvPr/>
        </p:nvSpPr>
        <p:spPr>
          <a:xfrm>
            <a:off x="6336225" y="3872655"/>
            <a:ext cx="547744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Time-Based Filters</a:t>
            </a:r>
            <a:endParaRPr lang="en-US" sz="16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FC67240-6ACF-B1B2-1B30-B507E098953D}"/>
              </a:ext>
            </a:extLst>
          </p:cNvPr>
          <p:cNvSpPr/>
          <p:nvPr/>
        </p:nvSpPr>
        <p:spPr>
          <a:xfrm>
            <a:off x="6336225" y="4043292"/>
            <a:ext cx="546891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Exclude trades during hours 6, 11-14, 16 to avoid systematic losses</a:t>
            </a:r>
            <a:endParaRPr lang="en-US" sz="16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E3D2A121-361C-1417-B1E0-A3BC8B89DA53}"/>
              </a:ext>
            </a:extLst>
          </p:cNvPr>
          <p:cNvSpPr/>
          <p:nvPr/>
        </p:nvSpPr>
        <p:spPr>
          <a:xfrm>
            <a:off x="6216779" y="4350438"/>
            <a:ext cx="5639547" cy="511910"/>
          </a:xfrm>
          <a:custGeom>
            <a:avLst/>
            <a:gdLst/>
            <a:ahLst/>
            <a:cxnLst/>
            <a:rect l="l" t="t" r="r" b="b"/>
            <a:pathLst>
              <a:path w="5639547" h="511910">
                <a:moveTo>
                  <a:pt x="34127" y="0"/>
                </a:moveTo>
                <a:lnTo>
                  <a:pt x="5571294" y="0"/>
                </a:lnTo>
                <a:cubicBezTo>
                  <a:pt x="5608989" y="0"/>
                  <a:pt x="5639547" y="30558"/>
                  <a:pt x="5639547" y="68253"/>
                </a:cubicBezTo>
                <a:lnTo>
                  <a:pt x="5639547" y="443657"/>
                </a:lnTo>
                <a:cubicBezTo>
                  <a:pt x="5639547" y="481353"/>
                  <a:pt x="5608989" y="511910"/>
                  <a:pt x="5571294" y="511910"/>
                </a:cubicBezTo>
                <a:lnTo>
                  <a:pt x="34127" y="511910"/>
                </a:lnTo>
                <a:cubicBezTo>
                  <a:pt x="15279" y="511910"/>
                  <a:pt x="0" y="496631"/>
                  <a:pt x="0" y="47778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1F81CA7-6302-1170-4965-BE66CCD3E310}"/>
              </a:ext>
            </a:extLst>
          </p:cNvPr>
          <p:cNvSpPr/>
          <p:nvPr/>
        </p:nvSpPr>
        <p:spPr>
          <a:xfrm>
            <a:off x="6336225" y="4452821"/>
            <a:ext cx="547744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Volatility Thresholds</a:t>
            </a:r>
            <a:endParaRPr lang="en-US" sz="16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ABEFC3B-9F14-B166-3DBE-062A7CBE6F62}"/>
              </a:ext>
            </a:extLst>
          </p:cNvPr>
          <p:cNvSpPr/>
          <p:nvPr/>
        </p:nvSpPr>
        <p:spPr>
          <a:xfrm>
            <a:off x="6336225" y="4623457"/>
            <a:ext cx="546891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Skip trades when spread volatility exceeds 2 standard deviations</a:t>
            </a:r>
            <a:endParaRPr lang="en-US" sz="16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96BDA87D-59E1-D50A-3422-5A2507DAA9D6}"/>
              </a:ext>
            </a:extLst>
          </p:cNvPr>
          <p:cNvSpPr/>
          <p:nvPr/>
        </p:nvSpPr>
        <p:spPr>
          <a:xfrm>
            <a:off x="6216779" y="4930604"/>
            <a:ext cx="5639547" cy="511910"/>
          </a:xfrm>
          <a:custGeom>
            <a:avLst/>
            <a:gdLst/>
            <a:ahLst/>
            <a:cxnLst/>
            <a:rect l="l" t="t" r="r" b="b"/>
            <a:pathLst>
              <a:path w="5639547" h="511910">
                <a:moveTo>
                  <a:pt x="34127" y="0"/>
                </a:moveTo>
                <a:lnTo>
                  <a:pt x="5571294" y="0"/>
                </a:lnTo>
                <a:cubicBezTo>
                  <a:pt x="5608989" y="0"/>
                  <a:pt x="5639547" y="30558"/>
                  <a:pt x="5639547" y="68253"/>
                </a:cubicBezTo>
                <a:lnTo>
                  <a:pt x="5639547" y="443657"/>
                </a:lnTo>
                <a:cubicBezTo>
                  <a:pt x="5639547" y="481353"/>
                  <a:pt x="5608989" y="511910"/>
                  <a:pt x="5571294" y="511910"/>
                </a:cubicBezTo>
                <a:lnTo>
                  <a:pt x="34127" y="511910"/>
                </a:lnTo>
                <a:cubicBezTo>
                  <a:pt x="15279" y="511910"/>
                  <a:pt x="0" y="496631"/>
                  <a:pt x="0" y="477783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2D11958-5E68-B8A6-DD45-3632CF7BD067}"/>
              </a:ext>
            </a:extLst>
          </p:cNvPr>
          <p:cNvSpPr/>
          <p:nvPr/>
        </p:nvSpPr>
        <p:spPr>
          <a:xfrm>
            <a:off x="6336225" y="5032986"/>
            <a:ext cx="547744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Confidence Scoring</a:t>
            </a:r>
            <a:endParaRPr lang="en-US"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C551A7B-7C35-4A8D-2C26-5BEA43747080}"/>
              </a:ext>
            </a:extLst>
          </p:cNvPr>
          <p:cNvSpPr/>
          <p:nvPr/>
        </p:nvSpPr>
        <p:spPr>
          <a:xfrm>
            <a:off x="6336225" y="5203622"/>
            <a:ext cx="546891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Only execute trades when model confidence &gt; 70%</a:t>
            </a:r>
            <a:endParaRPr lang="en-US" sz="160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79E27698-2F7B-8AFD-9222-F58BE283569F}"/>
              </a:ext>
            </a:extLst>
          </p:cNvPr>
          <p:cNvSpPr/>
          <p:nvPr/>
        </p:nvSpPr>
        <p:spPr>
          <a:xfrm>
            <a:off x="358337" y="6159189"/>
            <a:ext cx="11492389" cy="614293"/>
          </a:xfrm>
          <a:custGeom>
            <a:avLst/>
            <a:gdLst/>
            <a:ahLst/>
            <a:cxnLst/>
            <a:rect l="l" t="t" r="r" b="b"/>
            <a:pathLst>
              <a:path w="11492389" h="614293">
                <a:moveTo>
                  <a:pt x="34127" y="0"/>
                </a:moveTo>
                <a:lnTo>
                  <a:pt x="11424135" y="0"/>
                </a:lnTo>
                <a:cubicBezTo>
                  <a:pt x="11461831" y="0"/>
                  <a:pt x="11492389" y="30558"/>
                  <a:pt x="11492389" y="68254"/>
                </a:cubicBezTo>
                <a:lnTo>
                  <a:pt x="11492389" y="546038"/>
                </a:lnTo>
                <a:cubicBezTo>
                  <a:pt x="11492389" y="583734"/>
                  <a:pt x="11461831" y="614293"/>
                  <a:pt x="11424135" y="614293"/>
                </a:cubicBezTo>
                <a:lnTo>
                  <a:pt x="34127" y="614293"/>
                </a:lnTo>
                <a:cubicBezTo>
                  <a:pt x="15279" y="614293"/>
                  <a:pt x="0" y="599013"/>
                  <a:pt x="0" y="580165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921F5B5D-CC7A-A296-595E-B01AB5B7D8FA}"/>
              </a:ext>
            </a:extLst>
          </p:cNvPr>
          <p:cNvSpPr/>
          <p:nvPr/>
        </p:nvSpPr>
        <p:spPr>
          <a:xfrm>
            <a:off x="511910" y="6295698"/>
            <a:ext cx="11262029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Warning:</a:t>
            </a:r>
            <a:r>
              <a:rPr lang="en-US" sz="100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Loss-making hours correlate with periods of market uncertainty (demand transitions, solar peaks). Implementing time-based filters could improve overall profitability whilst reducing maximum drawdown.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41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B989CE5-9FB3-C2E4-E57E-1C3AE2D721AA}"/>
              </a:ext>
            </a:extLst>
          </p:cNvPr>
          <p:cNvSpPr/>
          <p:nvPr/>
        </p:nvSpPr>
        <p:spPr>
          <a:xfrm>
            <a:off x="372844" y="372844"/>
            <a:ext cx="1151156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kern="0" spc="51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COMPARISON</a:t>
            </a:r>
            <a:endParaRPr lang="en-US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1856B2E-D29A-135A-58F3-5775A55B132C}"/>
              </a:ext>
            </a:extLst>
          </p:cNvPr>
          <p:cNvSpPr/>
          <p:nvPr/>
        </p:nvSpPr>
        <p:spPr>
          <a:xfrm>
            <a:off x="372844" y="633835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b="1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Algorithm Performance Matrix</a:t>
            </a:r>
            <a:endParaRPr lang="en-US" sz="16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7829E9C-1FEC-BFB7-8944-61773AC5F720}"/>
              </a:ext>
            </a:extLst>
          </p:cNvPr>
          <p:cNvSpPr/>
          <p:nvPr/>
        </p:nvSpPr>
        <p:spPr>
          <a:xfrm>
            <a:off x="6181710" y="1141628"/>
            <a:ext cx="2749725" cy="1901505"/>
          </a:xfrm>
          <a:custGeom>
            <a:avLst/>
            <a:gdLst/>
            <a:ahLst/>
            <a:cxnLst/>
            <a:rect l="l" t="t" r="r" b="b"/>
            <a:pathLst>
              <a:path w="2749725" h="1901505">
                <a:moveTo>
                  <a:pt x="74577" y="0"/>
                </a:moveTo>
                <a:lnTo>
                  <a:pt x="2675148" y="0"/>
                </a:lnTo>
                <a:cubicBezTo>
                  <a:pt x="2716336" y="0"/>
                  <a:pt x="2749725" y="33389"/>
                  <a:pt x="2749725" y="74577"/>
                </a:cubicBezTo>
                <a:lnTo>
                  <a:pt x="2749725" y="1826928"/>
                </a:lnTo>
                <a:cubicBezTo>
                  <a:pt x="2749725" y="1868115"/>
                  <a:pt x="2716336" y="1901505"/>
                  <a:pt x="2675148" y="1901505"/>
                </a:cubicBezTo>
                <a:lnTo>
                  <a:pt x="74577" y="1901505"/>
                </a:lnTo>
                <a:cubicBezTo>
                  <a:pt x="33389" y="1901505"/>
                  <a:pt x="0" y="1868115"/>
                  <a:pt x="0" y="1826928"/>
                </a:cubicBezTo>
                <a:lnTo>
                  <a:pt x="0" y="74577"/>
                </a:lnTo>
                <a:cubicBezTo>
                  <a:pt x="0" y="33417"/>
                  <a:pt x="33417" y="0"/>
                  <a:pt x="74577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03ACE73-CADD-B8B4-479C-AEFE571723A0}"/>
              </a:ext>
            </a:extLst>
          </p:cNvPr>
          <p:cNvSpPr/>
          <p:nvPr/>
        </p:nvSpPr>
        <p:spPr>
          <a:xfrm>
            <a:off x="6330848" y="1290765"/>
            <a:ext cx="25353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HistGradientBoosting</a:t>
            </a:r>
            <a:endParaRPr lang="en-US" sz="16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12C5FAD-4B8C-DD12-E288-1EFF4E3CB03A}"/>
              </a:ext>
            </a:extLst>
          </p:cNvPr>
          <p:cNvSpPr/>
          <p:nvPr/>
        </p:nvSpPr>
        <p:spPr>
          <a:xfrm>
            <a:off x="6330848" y="1626325"/>
            <a:ext cx="63383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3020C95-843A-F2CE-1C70-4FC0344537E6}"/>
              </a:ext>
            </a:extLst>
          </p:cNvPr>
          <p:cNvSpPr/>
          <p:nvPr/>
        </p:nvSpPr>
        <p:spPr>
          <a:xfrm>
            <a:off x="8413240" y="1626325"/>
            <a:ext cx="43809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81.5%</a:t>
            </a:r>
            <a:endParaRPr lang="en-US" sz="16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15A6733-8195-97DA-8578-B10F12D7A99C}"/>
              </a:ext>
            </a:extLst>
          </p:cNvPr>
          <p:cNvSpPr/>
          <p:nvPr/>
        </p:nvSpPr>
        <p:spPr>
          <a:xfrm>
            <a:off x="6330848" y="1850031"/>
            <a:ext cx="74568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Profit/MWh:</a:t>
            </a:r>
            <a:endParaRPr lang="en-US" sz="1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3A61DCF-2554-18F2-7AD1-EEADA567FE39}"/>
              </a:ext>
            </a:extLst>
          </p:cNvPr>
          <p:cNvSpPr/>
          <p:nvPr/>
        </p:nvSpPr>
        <p:spPr>
          <a:xfrm>
            <a:off x="6330848" y="2073738"/>
            <a:ext cx="73636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Profit:</a:t>
            </a:r>
            <a:endParaRPr lang="en-US" sz="16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8DED72-0123-E8B6-FBFE-584FC4B9B35F}"/>
              </a:ext>
            </a:extLst>
          </p:cNvPr>
          <p:cNvSpPr/>
          <p:nvPr/>
        </p:nvSpPr>
        <p:spPr>
          <a:xfrm>
            <a:off x="8214438" y="2073738"/>
            <a:ext cx="63383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€139,403</a:t>
            </a:r>
            <a:endParaRPr lang="en-US" sz="16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29B78FF-B009-8692-9562-8B0EAEC9FC03}"/>
              </a:ext>
            </a:extLst>
          </p:cNvPr>
          <p:cNvSpPr/>
          <p:nvPr/>
        </p:nvSpPr>
        <p:spPr>
          <a:xfrm>
            <a:off x="6330848" y="2297444"/>
            <a:ext cx="50333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Trades:</a:t>
            </a:r>
            <a:endParaRPr lang="en-US" sz="16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CEC6B2C-27A1-F4D4-4606-91EE68D14BD7}"/>
              </a:ext>
            </a:extLst>
          </p:cNvPr>
          <p:cNvSpPr/>
          <p:nvPr/>
        </p:nvSpPr>
        <p:spPr>
          <a:xfrm>
            <a:off x="8384111" y="2297444"/>
            <a:ext cx="46605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11,656</a:t>
            </a:r>
            <a:endParaRPr lang="en-US" sz="160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1B8BCB62-666A-DB68-1A10-849831D683FD}"/>
              </a:ext>
            </a:extLst>
          </p:cNvPr>
          <p:cNvSpPr/>
          <p:nvPr/>
        </p:nvSpPr>
        <p:spPr>
          <a:xfrm>
            <a:off x="9081592" y="1141628"/>
            <a:ext cx="2749725" cy="1901505"/>
          </a:xfrm>
          <a:custGeom>
            <a:avLst/>
            <a:gdLst/>
            <a:ahLst/>
            <a:cxnLst/>
            <a:rect l="l" t="t" r="r" b="b"/>
            <a:pathLst>
              <a:path w="2749725" h="1901505">
                <a:moveTo>
                  <a:pt x="74577" y="0"/>
                </a:moveTo>
                <a:lnTo>
                  <a:pt x="2675148" y="0"/>
                </a:lnTo>
                <a:cubicBezTo>
                  <a:pt x="2716336" y="0"/>
                  <a:pt x="2749725" y="33389"/>
                  <a:pt x="2749725" y="74577"/>
                </a:cubicBezTo>
                <a:lnTo>
                  <a:pt x="2749725" y="1826928"/>
                </a:lnTo>
                <a:cubicBezTo>
                  <a:pt x="2749725" y="1868115"/>
                  <a:pt x="2716336" y="1901505"/>
                  <a:pt x="2675148" y="1901505"/>
                </a:cubicBezTo>
                <a:lnTo>
                  <a:pt x="74577" y="1901505"/>
                </a:lnTo>
                <a:cubicBezTo>
                  <a:pt x="33389" y="1901505"/>
                  <a:pt x="0" y="1868115"/>
                  <a:pt x="0" y="1826928"/>
                </a:cubicBezTo>
                <a:lnTo>
                  <a:pt x="0" y="74577"/>
                </a:lnTo>
                <a:cubicBezTo>
                  <a:pt x="0" y="33417"/>
                  <a:pt x="33417" y="0"/>
                  <a:pt x="74577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20F02A5-62D9-F417-4A84-7F835C602A7E}"/>
              </a:ext>
            </a:extLst>
          </p:cNvPr>
          <p:cNvSpPr/>
          <p:nvPr/>
        </p:nvSpPr>
        <p:spPr>
          <a:xfrm>
            <a:off x="9230730" y="1290765"/>
            <a:ext cx="25353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Regression</a:t>
            </a:r>
            <a:endParaRPr lang="en-US" sz="160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55717A9-90F8-50D2-254C-B50B8EF86864}"/>
              </a:ext>
            </a:extLst>
          </p:cNvPr>
          <p:cNvSpPr/>
          <p:nvPr/>
        </p:nvSpPr>
        <p:spPr>
          <a:xfrm>
            <a:off x="9230730" y="1626325"/>
            <a:ext cx="63383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6B2B1C1C-08BD-EBB4-C4C2-08249BF603FB}"/>
              </a:ext>
            </a:extLst>
          </p:cNvPr>
          <p:cNvSpPr/>
          <p:nvPr/>
        </p:nvSpPr>
        <p:spPr>
          <a:xfrm>
            <a:off x="11313122" y="1626325"/>
            <a:ext cx="43809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44.6%</a:t>
            </a:r>
            <a:endParaRPr lang="en-US" sz="160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300DF91-20AB-1B82-1973-39B778BD6F80}"/>
              </a:ext>
            </a:extLst>
          </p:cNvPr>
          <p:cNvSpPr/>
          <p:nvPr/>
        </p:nvSpPr>
        <p:spPr>
          <a:xfrm>
            <a:off x="9230730" y="1850031"/>
            <a:ext cx="74568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Profit/MWh:</a:t>
            </a:r>
            <a:endParaRPr lang="en-US" sz="16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E9D288C4-0C01-7D71-2030-EBB12ECC46B7}"/>
              </a:ext>
            </a:extLst>
          </p:cNvPr>
          <p:cNvSpPr/>
          <p:nvPr/>
        </p:nvSpPr>
        <p:spPr>
          <a:xfrm>
            <a:off x="11332055" y="1850031"/>
            <a:ext cx="41945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€12.7</a:t>
            </a:r>
            <a:endParaRPr lang="en-US" sz="16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D1F0CDEB-5F45-86D7-AC7B-B6760E41693F}"/>
              </a:ext>
            </a:extLst>
          </p:cNvPr>
          <p:cNvSpPr/>
          <p:nvPr/>
        </p:nvSpPr>
        <p:spPr>
          <a:xfrm>
            <a:off x="9230730" y="2073738"/>
            <a:ext cx="73636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Profit:</a:t>
            </a:r>
            <a:endParaRPr lang="en-US" sz="160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BA4639BD-0753-6FF2-F043-C7DAA471EADA}"/>
              </a:ext>
            </a:extLst>
          </p:cNvPr>
          <p:cNvSpPr/>
          <p:nvPr/>
        </p:nvSpPr>
        <p:spPr>
          <a:xfrm>
            <a:off x="11186850" y="2073738"/>
            <a:ext cx="5592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€72,838</a:t>
            </a:r>
            <a:endParaRPr lang="en-US" sz="16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50A7E13-6D5B-A15D-6A99-0CC19EF234BE}"/>
              </a:ext>
            </a:extLst>
          </p:cNvPr>
          <p:cNvSpPr/>
          <p:nvPr/>
        </p:nvSpPr>
        <p:spPr>
          <a:xfrm>
            <a:off x="9230730" y="2297444"/>
            <a:ext cx="50333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Trades:</a:t>
            </a:r>
            <a:endParaRPr lang="en-US" sz="160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592CBB6E-96A5-AA42-3C3B-41A6B0F3FA10}"/>
              </a:ext>
            </a:extLst>
          </p:cNvPr>
          <p:cNvSpPr/>
          <p:nvPr/>
        </p:nvSpPr>
        <p:spPr>
          <a:xfrm>
            <a:off x="11356523" y="2297444"/>
            <a:ext cx="39148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5,744</a:t>
            </a:r>
            <a:endParaRPr lang="en-US" sz="160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A5D6F15A-AFDA-5EB0-EA21-875DFADF2572}"/>
              </a:ext>
            </a:extLst>
          </p:cNvPr>
          <p:cNvSpPr/>
          <p:nvPr/>
        </p:nvSpPr>
        <p:spPr>
          <a:xfrm>
            <a:off x="6172608" y="3765725"/>
            <a:ext cx="2749725" cy="1901505"/>
          </a:xfrm>
          <a:custGeom>
            <a:avLst/>
            <a:gdLst/>
            <a:ahLst/>
            <a:cxnLst/>
            <a:rect l="l" t="t" r="r" b="b"/>
            <a:pathLst>
              <a:path w="2749725" h="1901505">
                <a:moveTo>
                  <a:pt x="74577" y="0"/>
                </a:moveTo>
                <a:lnTo>
                  <a:pt x="2675148" y="0"/>
                </a:lnTo>
                <a:cubicBezTo>
                  <a:pt x="2716336" y="0"/>
                  <a:pt x="2749725" y="33389"/>
                  <a:pt x="2749725" y="74577"/>
                </a:cubicBezTo>
                <a:lnTo>
                  <a:pt x="2749725" y="1826928"/>
                </a:lnTo>
                <a:cubicBezTo>
                  <a:pt x="2749725" y="1868115"/>
                  <a:pt x="2716336" y="1901505"/>
                  <a:pt x="2675148" y="1901505"/>
                </a:cubicBezTo>
                <a:lnTo>
                  <a:pt x="74577" y="1901505"/>
                </a:lnTo>
                <a:cubicBezTo>
                  <a:pt x="33389" y="1901505"/>
                  <a:pt x="0" y="1868115"/>
                  <a:pt x="0" y="1826928"/>
                </a:cubicBezTo>
                <a:lnTo>
                  <a:pt x="0" y="74577"/>
                </a:lnTo>
                <a:cubicBezTo>
                  <a:pt x="0" y="33417"/>
                  <a:pt x="33417" y="0"/>
                  <a:pt x="7457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ECE23353-A32A-215A-9BB7-05C762E61489}"/>
              </a:ext>
            </a:extLst>
          </p:cNvPr>
          <p:cNvSpPr/>
          <p:nvPr/>
        </p:nvSpPr>
        <p:spPr>
          <a:xfrm>
            <a:off x="6321745" y="3914862"/>
            <a:ext cx="25353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713D224E-D0B4-7158-1B72-EAB4BB6925BC}"/>
              </a:ext>
            </a:extLst>
          </p:cNvPr>
          <p:cNvSpPr/>
          <p:nvPr/>
        </p:nvSpPr>
        <p:spPr>
          <a:xfrm>
            <a:off x="6321745" y="4250422"/>
            <a:ext cx="63383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908C32C7-B804-BEFF-65B8-C61C87CB5DE6}"/>
              </a:ext>
            </a:extLst>
          </p:cNvPr>
          <p:cNvSpPr/>
          <p:nvPr/>
        </p:nvSpPr>
        <p:spPr>
          <a:xfrm>
            <a:off x="8404138" y="4250422"/>
            <a:ext cx="43809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48.2%</a:t>
            </a:r>
            <a:endParaRPr lang="en-US" sz="160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BEB563FC-0817-E790-0022-6AE56756D97D}"/>
              </a:ext>
            </a:extLst>
          </p:cNvPr>
          <p:cNvSpPr/>
          <p:nvPr/>
        </p:nvSpPr>
        <p:spPr>
          <a:xfrm>
            <a:off x="6321745" y="4474128"/>
            <a:ext cx="74568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Profit/MWh:</a:t>
            </a:r>
            <a:endParaRPr lang="en-US" sz="160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AB61EE92-9098-9F05-E354-7CA1E17F8F63}"/>
              </a:ext>
            </a:extLst>
          </p:cNvPr>
          <p:cNvSpPr/>
          <p:nvPr/>
        </p:nvSpPr>
        <p:spPr>
          <a:xfrm>
            <a:off x="8495601" y="4474128"/>
            <a:ext cx="34488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€6.8</a:t>
            </a:r>
            <a:endParaRPr lang="en-US" sz="16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A725B53F-1182-DEA1-0D5B-ACF5016F02FB}"/>
              </a:ext>
            </a:extLst>
          </p:cNvPr>
          <p:cNvSpPr/>
          <p:nvPr/>
        </p:nvSpPr>
        <p:spPr>
          <a:xfrm>
            <a:off x="6321745" y="4697835"/>
            <a:ext cx="73636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Profit:</a:t>
            </a:r>
            <a:endParaRPr lang="en-US" sz="160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EA32FFCC-5133-4599-ED4A-F178A8820DF8}"/>
              </a:ext>
            </a:extLst>
          </p:cNvPr>
          <p:cNvSpPr/>
          <p:nvPr/>
        </p:nvSpPr>
        <p:spPr>
          <a:xfrm>
            <a:off x="8277866" y="4697835"/>
            <a:ext cx="5592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€36,495</a:t>
            </a:r>
            <a:endParaRPr lang="en-US" sz="160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B4C37BA7-8153-E070-E89B-0CAC66CF760D}"/>
              </a:ext>
            </a:extLst>
          </p:cNvPr>
          <p:cNvSpPr/>
          <p:nvPr/>
        </p:nvSpPr>
        <p:spPr>
          <a:xfrm>
            <a:off x="6321745" y="4921541"/>
            <a:ext cx="50333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Trades:</a:t>
            </a:r>
            <a:endParaRPr lang="en-US" sz="160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E3F0F205-2670-89D7-01F9-04B03535FBDE}"/>
              </a:ext>
            </a:extLst>
          </p:cNvPr>
          <p:cNvSpPr/>
          <p:nvPr/>
        </p:nvSpPr>
        <p:spPr>
          <a:xfrm>
            <a:off x="8447539" y="4921541"/>
            <a:ext cx="39148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5,348</a:t>
            </a:r>
            <a:endParaRPr lang="en-US" sz="1600"/>
          </a:p>
        </p:txBody>
      </p:sp>
      <p:sp>
        <p:nvSpPr>
          <p:cNvPr id="35" name="Shape 38">
            <a:extLst>
              <a:ext uri="{FF2B5EF4-FFF2-40B4-BE49-F238E27FC236}">
                <a16:creationId xmlns:a16="http://schemas.microsoft.com/office/drawing/2014/main" id="{FB9C70D0-840D-0A6D-5BB5-2AA91D89EA70}"/>
              </a:ext>
            </a:extLst>
          </p:cNvPr>
          <p:cNvSpPr/>
          <p:nvPr/>
        </p:nvSpPr>
        <p:spPr>
          <a:xfrm>
            <a:off x="9072490" y="3765725"/>
            <a:ext cx="2749725" cy="1901505"/>
          </a:xfrm>
          <a:custGeom>
            <a:avLst/>
            <a:gdLst/>
            <a:ahLst/>
            <a:cxnLst/>
            <a:rect l="l" t="t" r="r" b="b"/>
            <a:pathLst>
              <a:path w="2749725" h="1901505">
                <a:moveTo>
                  <a:pt x="74577" y="0"/>
                </a:moveTo>
                <a:lnTo>
                  <a:pt x="2675148" y="0"/>
                </a:lnTo>
                <a:cubicBezTo>
                  <a:pt x="2716336" y="0"/>
                  <a:pt x="2749725" y="33389"/>
                  <a:pt x="2749725" y="74577"/>
                </a:cubicBezTo>
                <a:lnTo>
                  <a:pt x="2749725" y="1826928"/>
                </a:lnTo>
                <a:cubicBezTo>
                  <a:pt x="2749725" y="1868115"/>
                  <a:pt x="2716336" y="1901505"/>
                  <a:pt x="2675148" y="1901505"/>
                </a:cubicBezTo>
                <a:lnTo>
                  <a:pt x="74577" y="1901505"/>
                </a:lnTo>
                <a:cubicBezTo>
                  <a:pt x="33389" y="1901505"/>
                  <a:pt x="0" y="1868115"/>
                  <a:pt x="0" y="1826928"/>
                </a:cubicBezTo>
                <a:lnTo>
                  <a:pt x="0" y="74577"/>
                </a:lnTo>
                <a:cubicBezTo>
                  <a:pt x="0" y="33417"/>
                  <a:pt x="33417" y="0"/>
                  <a:pt x="74577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4629733F-AE93-1D83-6D91-F3E888660C06}"/>
              </a:ext>
            </a:extLst>
          </p:cNvPr>
          <p:cNvSpPr/>
          <p:nvPr/>
        </p:nvSpPr>
        <p:spPr>
          <a:xfrm>
            <a:off x="9221627" y="3914862"/>
            <a:ext cx="253533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LightGBM</a:t>
            </a:r>
            <a:endParaRPr lang="en-US" sz="1600"/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EF0DDC68-1D39-A172-E417-DF03265228D4}"/>
              </a:ext>
            </a:extLst>
          </p:cNvPr>
          <p:cNvSpPr/>
          <p:nvPr/>
        </p:nvSpPr>
        <p:spPr>
          <a:xfrm>
            <a:off x="9221627" y="4250422"/>
            <a:ext cx="633835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/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BB2B3546-DFF4-D349-32F7-725461389384}"/>
              </a:ext>
            </a:extLst>
          </p:cNvPr>
          <p:cNvSpPr/>
          <p:nvPr/>
        </p:nvSpPr>
        <p:spPr>
          <a:xfrm>
            <a:off x="11304019" y="4250422"/>
            <a:ext cx="438092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41.1%</a:t>
            </a:r>
            <a:endParaRPr lang="en-US" sz="160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BEEC84E6-12CA-E21D-873A-B18F31E597FD}"/>
              </a:ext>
            </a:extLst>
          </p:cNvPr>
          <p:cNvSpPr/>
          <p:nvPr/>
        </p:nvSpPr>
        <p:spPr>
          <a:xfrm>
            <a:off x="9221627" y="4474128"/>
            <a:ext cx="74568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Profit/MWh:</a:t>
            </a:r>
            <a:endParaRPr lang="en-US" sz="1600"/>
          </a:p>
        </p:txBody>
      </p:sp>
      <p:sp>
        <p:nvSpPr>
          <p:cNvPr id="40" name="Text 43">
            <a:extLst>
              <a:ext uri="{FF2B5EF4-FFF2-40B4-BE49-F238E27FC236}">
                <a16:creationId xmlns:a16="http://schemas.microsoft.com/office/drawing/2014/main" id="{DBBBE0E5-A23F-7EB9-AE69-FC54A80A3A0B}"/>
              </a:ext>
            </a:extLst>
          </p:cNvPr>
          <p:cNvSpPr/>
          <p:nvPr/>
        </p:nvSpPr>
        <p:spPr>
          <a:xfrm>
            <a:off x="11395483" y="4474128"/>
            <a:ext cx="34488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€4.4</a:t>
            </a:r>
            <a:endParaRPr lang="en-US" sz="1600"/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7E29F268-D760-C4C1-A2E5-EAAA1493B6FC}"/>
              </a:ext>
            </a:extLst>
          </p:cNvPr>
          <p:cNvSpPr/>
          <p:nvPr/>
        </p:nvSpPr>
        <p:spPr>
          <a:xfrm>
            <a:off x="9221627" y="4697835"/>
            <a:ext cx="73636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Profit:</a:t>
            </a:r>
            <a:endParaRPr lang="en-US" sz="1600"/>
          </a:p>
        </p:txBody>
      </p:sp>
      <p:sp>
        <p:nvSpPr>
          <p:cNvPr id="42" name="Text 45">
            <a:extLst>
              <a:ext uri="{FF2B5EF4-FFF2-40B4-BE49-F238E27FC236}">
                <a16:creationId xmlns:a16="http://schemas.microsoft.com/office/drawing/2014/main" id="{09995B58-D3E6-5A5E-7D99-175B56A98AB5}"/>
              </a:ext>
            </a:extLst>
          </p:cNvPr>
          <p:cNvSpPr/>
          <p:nvPr/>
        </p:nvSpPr>
        <p:spPr>
          <a:xfrm>
            <a:off x="11177748" y="4697835"/>
            <a:ext cx="55926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€14,659</a:t>
            </a:r>
            <a:endParaRPr lang="en-US" sz="1600"/>
          </a:p>
        </p:txBody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4833FC1A-ABC8-B05A-8A5C-7BDADB67015F}"/>
              </a:ext>
            </a:extLst>
          </p:cNvPr>
          <p:cNvSpPr/>
          <p:nvPr/>
        </p:nvSpPr>
        <p:spPr>
          <a:xfrm>
            <a:off x="9221627" y="4921541"/>
            <a:ext cx="50333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Trades:</a:t>
            </a:r>
            <a:endParaRPr lang="en-US" sz="1600"/>
          </a:p>
        </p:txBody>
      </p:sp>
      <p:sp>
        <p:nvSpPr>
          <p:cNvPr id="44" name="Text 47">
            <a:extLst>
              <a:ext uri="{FF2B5EF4-FFF2-40B4-BE49-F238E27FC236}">
                <a16:creationId xmlns:a16="http://schemas.microsoft.com/office/drawing/2014/main" id="{3EC84F9B-AF95-2E8B-FEFB-97162AC3F77C}"/>
              </a:ext>
            </a:extLst>
          </p:cNvPr>
          <p:cNvSpPr/>
          <p:nvPr/>
        </p:nvSpPr>
        <p:spPr>
          <a:xfrm>
            <a:off x="11456361" y="4921541"/>
            <a:ext cx="27963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826</a:t>
            </a:r>
            <a:endParaRPr lang="en-US" sz="1600"/>
          </a:p>
        </p:txBody>
      </p:sp>
      <p:sp>
        <p:nvSpPr>
          <p:cNvPr id="45" name="Shape 48">
            <a:extLst>
              <a:ext uri="{FF2B5EF4-FFF2-40B4-BE49-F238E27FC236}">
                <a16:creationId xmlns:a16="http://schemas.microsoft.com/office/drawing/2014/main" id="{2A10D4DF-9BF7-7F70-AC8D-18A25877CD59}"/>
              </a:ext>
            </a:extLst>
          </p:cNvPr>
          <p:cNvSpPr/>
          <p:nvPr/>
        </p:nvSpPr>
        <p:spPr>
          <a:xfrm>
            <a:off x="9218568" y="5175891"/>
            <a:ext cx="2451450" cy="298275"/>
          </a:xfrm>
          <a:custGeom>
            <a:avLst/>
            <a:gdLst/>
            <a:ahLst/>
            <a:cxnLst/>
            <a:rect l="l" t="t" r="r" b="b"/>
            <a:pathLst>
              <a:path w="2451450" h="298275">
                <a:moveTo>
                  <a:pt x="37284" y="0"/>
                </a:moveTo>
                <a:lnTo>
                  <a:pt x="2414165" y="0"/>
                </a:lnTo>
                <a:cubicBezTo>
                  <a:pt x="2434757" y="0"/>
                  <a:pt x="2451450" y="16693"/>
                  <a:pt x="2451450" y="37284"/>
                </a:cubicBezTo>
                <a:lnTo>
                  <a:pt x="2451450" y="260991"/>
                </a:lnTo>
                <a:cubicBezTo>
                  <a:pt x="2451450" y="281582"/>
                  <a:pt x="2434757" y="298275"/>
                  <a:pt x="2414165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50">
            <a:extLst>
              <a:ext uri="{FF2B5EF4-FFF2-40B4-BE49-F238E27FC236}">
                <a16:creationId xmlns:a16="http://schemas.microsoft.com/office/drawing/2014/main" id="{7C3B65DC-7901-C9F1-BAB6-EC34260F5388}"/>
              </a:ext>
            </a:extLst>
          </p:cNvPr>
          <p:cNvSpPr/>
          <p:nvPr/>
        </p:nvSpPr>
        <p:spPr>
          <a:xfrm>
            <a:off x="391486" y="5816367"/>
            <a:ext cx="11427670" cy="671119"/>
          </a:xfrm>
          <a:custGeom>
            <a:avLst/>
            <a:gdLst/>
            <a:ahLst/>
            <a:cxnLst/>
            <a:rect l="l" t="t" r="r" b="b"/>
            <a:pathLst>
              <a:path w="11427670" h="671119">
                <a:moveTo>
                  <a:pt x="37284" y="0"/>
                </a:moveTo>
                <a:lnTo>
                  <a:pt x="11353102" y="0"/>
                </a:lnTo>
                <a:cubicBezTo>
                  <a:pt x="11394284" y="0"/>
                  <a:pt x="11427670" y="33385"/>
                  <a:pt x="11427670" y="74568"/>
                </a:cubicBezTo>
                <a:lnTo>
                  <a:pt x="11427670" y="596551"/>
                </a:lnTo>
                <a:cubicBezTo>
                  <a:pt x="11427670" y="637734"/>
                  <a:pt x="11394284" y="671119"/>
                  <a:pt x="11353102" y="671119"/>
                </a:cubicBezTo>
                <a:lnTo>
                  <a:pt x="37284" y="671119"/>
                </a:lnTo>
                <a:cubicBezTo>
                  <a:pt x="16693" y="671119"/>
                  <a:pt x="0" y="654426"/>
                  <a:pt x="0" y="633835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24159C3A-B9DF-E13A-368E-D6331895E757}"/>
              </a:ext>
            </a:extLst>
          </p:cNvPr>
          <p:cNvSpPr/>
          <p:nvPr/>
        </p:nvSpPr>
        <p:spPr>
          <a:xfrm>
            <a:off x="559266" y="5965505"/>
            <a:ext cx="11176000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 Criteria:</a:t>
            </a:r>
            <a:r>
              <a:rPr lang="en-US" sz="1028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HistGradientBoosting selected as production model due to superior accuracy (81.5%) and highest total profit (€139,403). The 2x accuracy improvement over Logistic Regression significantly reduces downside risk while maintaining strong profitability.</a:t>
            </a:r>
            <a:endParaRPr lang="en-US" sz="1600"/>
          </a:p>
        </p:txBody>
      </p:sp>
      <p:pic>
        <p:nvPicPr>
          <p:cNvPr id="48" name="Picture 47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B79E978C-3A27-3428-3999-A5F51BD6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85" y="1141628"/>
            <a:ext cx="5879576" cy="4288612"/>
          </a:xfrm>
          <a:prstGeom prst="rect">
            <a:avLst/>
          </a:prstGeom>
        </p:spPr>
      </p:pic>
      <p:sp>
        <p:nvSpPr>
          <p:cNvPr id="49" name="Shape 48">
            <a:extLst>
              <a:ext uri="{FF2B5EF4-FFF2-40B4-BE49-F238E27FC236}">
                <a16:creationId xmlns:a16="http://schemas.microsoft.com/office/drawing/2014/main" id="{8D23E721-DA6E-3ADB-F3D9-002BCF1C8910}"/>
              </a:ext>
            </a:extLst>
          </p:cNvPr>
          <p:cNvSpPr/>
          <p:nvPr/>
        </p:nvSpPr>
        <p:spPr>
          <a:xfrm>
            <a:off x="9211724" y="2609031"/>
            <a:ext cx="2451450" cy="298275"/>
          </a:xfrm>
          <a:custGeom>
            <a:avLst/>
            <a:gdLst/>
            <a:ahLst/>
            <a:cxnLst/>
            <a:rect l="l" t="t" r="r" b="b"/>
            <a:pathLst>
              <a:path w="2451450" h="298275">
                <a:moveTo>
                  <a:pt x="37284" y="0"/>
                </a:moveTo>
                <a:lnTo>
                  <a:pt x="2414165" y="0"/>
                </a:lnTo>
                <a:cubicBezTo>
                  <a:pt x="2434757" y="0"/>
                  <a:pt x="2451450" y="16693"/>
                  <a:pt x="2451450" y="37284"/>
                </a:cubicBezTo>
                <a:lnTo>
                  <a:pt x="2451450" y="260991"/>
                </a:lnTo>
                <a:cubicBezTo>
                  <a:pt x="2451450" y="281582"/>
                  <a:pt x="2434757" y="298275"/>
                  <a:pt x="2414165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E9E12471-E482-B82D-62E4-B31B856C09C9}"/>
              </a:ext>
            </a:extLst>
          </p:cNvPr>
          <p:cNvSpPr/>
          <p:nvPr/>
        </p:nvSpPr>
        <p:spPr>
          <a:xfrm>
            <a:off x="6310094" y="5176619"/>
            <a:ext cx="2451450" cy="298275"/>
          </a:xfrm>
          <a:custGeom>
            <a:avLst/>
            <a:gdLst/>
            <a:ahLst/>
            <a:cxnLst/>
            <a:rect l="l" t="t" r="r" b="b"/>
            <a:pathLst>
              <a:path w="2451450" h="298275">
                <a:moveTo>
                  <a:pt x="37284" y="0"/>
                </a:moveTo>
                <a:lnTo>
                  <a:pt x="2414165" y="0"/>
                </a:lnTo>
                <a:cubicBezTo>
                  <a:pt x="2434757" y="0"/>
                  <a:pt x="2451450" y="16693"/>
                  <a:pt x="2451450" y="37284"/>
                </a:cubicBezTo>
                <a:lnTo>
                  <a:pt x="2451450" y="260991"/>
                </a:lnTo>
                <a:cubicBezTo>
                  <a:pt x="2451450" y="281582"/>
                  <a:pt x="2434757" y="298275"/>
                  <a:pt x="2414165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6B02A320-0BDD-E0A8-DFE4-13B538FA4EA7}"/>
              </a:ext>
            </a:extLst>
          </p:cNvPr>
          <p:cNvSpPr/>
          <p:nvPr/>
        </p:nvSpPr>
        <p:spPr>
          <a:xfrm>
            <a:off x="9268233" y="5159436"/>
            <a:ext cx="2507376" cy="298275"/>
          </a:xfrm>
          <a:prstGeom prst="rect">
            <a:avLst/>
          </a:prstGeom>
          <a:noFill/>
          <a:ln/>
        </p:spPr>
        <p:txBody>
          <a:bodyPr wrap="square" lIns="74569" tIns="74569" rIns="74569" bIns="74569" rtlCol="0" anchor="ctr"/>
          <a:lstStyle/>
          <a:p>
            <a:pPr>
              <a:lnSpc>
                <a:spcPct val="110000"/>
              </a:lnSpc>
            </a:pPr>
            <a:r>
              <a:rPr lang="en-GB" sz="881" b="1">
                <a:latin typeface="MiSans" pitchFamily="34" charset="0"/>
                <a:ea typeface="MiSans" pitchFamily="34" charset="-122"/>
                <a:cs typeface="MiSans" pitchFamily="34" charset="-120"/>
              </a:rPr>
              <a:t>Best</a:t>
            </a:r>
            <a:r>
              <a:rPr lang="en-GB" sz="900" b="1"/>
              <a:t> </a:t>
            </a:r>
            <a:r>
              <a:rPr lang="en-GB" sz="881" b="1">
                <a:latin typeface="MiSans" pitchFamily="34" charset="0"/>
                <a:ea typeface="MiSans" pitchFamily="34" charset="-122"/>
                <a:cs typeface="MiSans" pitchFamily="34" charset="-120"/>
              </a:rPr>
              <a:t>for:</a:t>
            </a:r>
            <a:r>
              <a:rPr lang="en-GB" sz="900" b="1"/>
              <a:t> </a:t>
            </a:r>
            <a:r>
              <a:rPr lang="en-GB" sz="881">
                <a:latin typeface="MiSans" pitchFamily="34" charset="0"/>
                <a:ea typeface="MiSans" pitchFamily="34" charset="-122"/>
                <a:cs typeface="MiSans" pitchFamily="34" charset="-120"/>
              </a:rPr>
              <a:t>Speed, large datasets</a:t>
            </a:r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B0A301EF-9F5D-D618-A888-CB45DD492CCD}"/>
              </a:ext>
            </a:extLst>
          </p:cNvPr>
          <p:cNvSpPr/>
          <p:nvPr/>
        </p:nvSpPr>
        <p:spPr>
          <a:xfrm>
            <a:off x="6344829" y="5175891"/>
            <a:ext cx="2507376" cy="298275"/>
          </a:xfrm>
          <a:prstGeom prst="rect">
            <a:avLst/>
          </a:prstGeom>
          <a:noFill/>
          <a:ln/>
        </p:spPr>
        <p:txBody>
          <a:bodyPr wrap="square" lIns="74569" tIns="74569" rIns="74569" bIns="74569" rtlCol="0" anchor="ctr"/>
          <a:lstStyle/>
          <a:p>
            <a:pPr>
              <a:lnSpc>
                <a:spcPct val="110000"/>
              </a:lnSpc>
            </a:pPr>
            <a:r>
              <a:rPr lang="en-US" sz="881" b="1"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r>
              <a:rPr lang="en-US" sz="881">
                <a:latin typeface="MiSans" pitchFamily="34" charset="0"/>
                <a:ea typeface="MiSans" pitchFamily="34" charset="-122"/>
                <a:cs typeface="MiSans" pitchFamily="34" charset="-120"/>
              </a:rPr>
              <a:t> Feature importance</a:t>
            </a: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C39C1D2-2C06-18FC-DF2A-60AF8E6B8117}"/>
              </a:ext>
            </a:extLst>
          </p:cNvPr>
          <p:cNvSpPr/>
          <p:nvPr/>
        </p:nvSpPr>
        <p:spPr>
          <a:xfrm>
            <a:off x="9238454" y="2595719"/>
            <a:ext cx="2507376" cy="298275"/>
          </a:xfrm>
          <a:prstGeom prst="rect">
            <a:avLst/>
          </a:prstGeom>
          <a:noFill/>
          <a:ln/>
        </p:spPr>
        <p:txBody>
          <a:bodyPr wrap="square" lIns="74569" tIns="74569" rIns="74569" bIns="74569" rtlCol="0" anchor="ctr"/>
          <a:lstStyle/>
          <a:p>
            <a:pPr>
              <a:lnSpc>
                <a:spcPct val="110000"/>
              </a:lnSpc>
            </a:pPr>
            <a:r>
              <a:rPr lang="en-US" sz="881" b="1"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r>
              <a:rPr lang="en-US" sz="881">
                <a:latin typeface="MiSans" pitchFamily="34" charset="0"/>
                <a:ea typeface="MiSans" pitchFamily="34" charset="-122"/>
                <a:cs typeface="MiSans" pitchFamily="34" charset="-120"/>
              </a:rPr>
              <a:t> Interpretability, baseline</a:t>
            </a:r>
            <a:endParaRPr lang="en-US" sz="1600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9D981B04-C2BF-D70A-D4BE-7092D9BD5022}"/>
              </a:ext>
            </a:extLst>
          </p:cNvPr>
          <p:cNvSpPr/>
          <p:nvPr/>
        </p:nvSpPr>
        <p:spPr>
          <a:xfrm>
            <a:off x="6305910" y="2601361"/>
            <a:ext cx="2451450" cy="298275"/>
          </a:xfrm>
          <a:custGeom>
            <a:avLst/>
            <a:gdLst/>
            <a:ahLst/>
            <a:cxnLst/>
            <a:rect l="l" t="t" r="r" b="b"/>
            <a:pathLst>
              <a:path w="2451450" h="298275">
                <a:moveTo>
                  <a:pt x="37284" y="0"/>
                </a:moveTo>
                <a:lnTo>
                  <a:pt x="2414165" y="0"/>
                </a:lnTo>
                <a:cubicBezTo>
                  <a:pt x="2434757" y="0"/>
                  <a:pt x="2451450" y="16693"/>
                  <a:pt x="2451450" y="37284"/>
                </a:cubicBezTo>
                <a:lnTo>
                  <a:pt x="2451450" y="260991"/>
                </a:lnTo>
                <a:cubicBezTo>
                  <a:pt x="2451450" y="281582"/>
                  <a:pt x="2434757" y="298275"/>
                  <a:pt x="2414165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70900978-E413-055A-0532-3D35C311160B}"/>
              </a:ext>
            </a:extLst>
          </p:cNvPr>
          <p:cNvSpPr/>
          <p:nvPr/>
        </p:nvSpPr>
        <p:spPr>
          <a:xfrm>
            <a:off x="6338572" y="2595719"/>
            <a:ext cx="2507376" cy="298275"/>
          </a:xfrm>
          <a:prstGeom prst="rect">
            <a:avLst/>
          </a:prstGeom>
          <a:noFill/>
          <a:ln/>
        </p:spPr>
        <p:txBody>
          <a:bodyPr wrap="square" lIns="74569" tIns="74569" rIns="74569" bIns="74569" rtlCol="0" anchor="ctr"/>
          <a:lstStyle/>
          <a:p>
            <a:pPr>
              <a:lnSpc>
                <a:spcPct val="110000"/>
              </a:lnSpc>
            </a:pPr>
            <a:r>
              <a:rPr lang="en-US" sz="881" b="1"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r>
              <a:rPr lang="en-US" sz="881">
                <a:latin typeface="MiSans" pitchFamily="34" charset="0"/>
                <a:ea typeface="MiSans" pitchFamily="34" charset="-122"/>
                <a:cs typeface="MiSans" pitchFamily="34" charset="-120"/>
              </a:rPr>
              <a:t> High accuracy, balanced profit</a:t>
            </a:r>
            <a:endParaRPr lang="en-US" sz="160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32081417-4DD8-22A8-D944-BBCF805C04D4}"/>
              </a:ext>
            </a:extLst>
          </p:cNvPr>
          <p:cNvSpPr/>
          <p:nvPr/>
        </p:nvSpPr>
        <p:spPr>
          <a:xfrm>
            <a:off x="8432173" y="1850031"/>
            <a:ext cx="41945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€12.0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2604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AA2013F-2C83-0757-4561-69917BAFDC44}"/>
              </a:ext>
            </a:extLst>
          </p:cNvPr>
          <p:cNvSpPr/>
          <p:nvPr/>
        </p:nvSpPr>
        <p:spPr>
          <a:xfrm>
            <a:off x="2367643" y="14923"/>
            <a:ext cx="7219541" cy="6828153"/>
          </a:xfrm>
          <a:custGeom>
            <a:avLst/>
            <a:gdLst/>
            <a:ahLst/>
            <a:cxnLst/>
            <a:rect l="l" t="t" r="r" b="b"/>
            <a:pathLst>
              <a:path w="7219541" h="6828153">
                <a:moveTo>
                  <a:pt x="3609771" y="0"/>
                </a:moveTo>
                <a:lnTo>
                  <a:pt x="3609771" y="0"/>
                </a:lnTo>
                <a:cubicBezTo>
                  <a:pt x="5603392" y="0"/>
                  <a:pt x="7219541" y="1528534"/>
                  <a:pt x="7219541" y="3414076"/>
                </a:cubicBezTo>
                <a:lnTo>
                  <a:pt x="7219541" y="3414076"/>
                </a:lnTo>
                <a:cubicBezTo>
                  <a:pt x="7219541" y="5299619"/>
                  <a:pt x="5603392" y="6828153"/>
                  <a:pt x="3609771" y="6828153"/>
                </a:cubicBezTo>
                <a:lnTo>
                  <a:pt x="3609771" y="6828153"/>
                </a:lnTo>
                <a:cubicBezTo>
                  <a:pt x="1616149" y="6828153"/>
                  <a:pt x="0" y="5299619"/>
                  <a:pt x="0" y="3414076"/>
                </a:cubicBezTo>
                <a:lnTo>
                  <a:pt x="0" y="3414076"/>
                </a:lnTo>
                <a:cubicBezTo>
                  <a:pt x="0" y="1528534"/>
                  <a:pt x="1616149" y="0"/>
                  <a:pt x="3609770" y="0"/>
                </a:cubicBezTo>
                <a:close/>
              </a:path>
            </a:pathLst>
          </a:custGeom>
          <a:solidFill>
            <a:srgbClr val="7234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4FA4B50-900B-7960-F734-1DC647282EE6}"/>
              </a:ext>
            </a:extLst>
          </p:cNvPr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STRATEGIC RECOMMENDATIONS</a:t>
            </a:r>
            <a:endParaRPr lang="en-US" sz="16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DB2FF3C-4A5F-B36A-678A-9467269E6898}"/>
              </a:ext>
            </a:extLst>
          </p:cNvPr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implement model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A4836A5-1AAA-EC8F-8DA2-4AD958E769DB}"/>
              </a:ext>
            </a:extLst>
          </p:cNvPr>
          <p:cNvSpPr/>
          <p:nvPr/>
        </p:nvSpPr>
        <p:spPr>
          <a:xfrm>
            <a:off x="379026" y="1191224"/>
            <a:ext cx="5613193" cy="1119029"/>
          </a:xfrm>
          <a:custGeom>
            <a:avLst/>
            <a:gdLst/>
            <a:ahLst/>
            <a:cxnLst/>
            <a:rect l="l" t="t" r="r" b="b"/>
            <a:pathLst>
              <a:path w="5613193" h="1119029">
                <a:moveTo>
                  <a:pt x="36098" y="0"/>
                </a:moveTo>
                <a:lnTo>
                  <a:pt x="5540993" y="0"/>
                </a:lnTo>
                <a:cubicBezTo>
                  <a:pt x="5580868" y="0"/>
                  <a:pt x="5613193" y="32325"/>
                  <a:pt x="5613193" y="72200"/>
                </a:cubicBezTo>
                <a:lnTo>
                  <a:pt x="5613193" y="1046829"/>
                </a:lnTo>
                <a:cubicBezTo>
                  <a:pt x="5613193" y="1086704"/>
                  <a:pt x="5580868" y="1119029"/>
                  <a:pt x="5540993" y="1119029"/>
                </a:cubicBez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B694606-850E-BE82-7743-73CCD0354518}"/>
              </a:ext>
            </a:extLst>
          </p:cNvPr>
          <p:cNvSpPr/>
          <p:nvPr/>
        </p:nvSpPr>
        <p:spPr>
          <a:xfrm>
            <a:off x="577563" y="137171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94AC5C4-9592-5F39-5E44-C38D804CBC5F}"/>
              </a:ext>
            </a:extLst>
          </p:cNvPr>
          <p:cNvSpPr/>
          <p:nvPr/>
        </p:nvSpPr>
        <p:spPr>
          <a:xfrm>
            <a:off x="532441" y="137171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5215557-5DF3-5A7D-1BBE-5FF04924C211}"/>
              </a:ext>
            </a:extLst>
          </p:cNvPr>
          <p:cNvSpPr/>
          <p:nvPr/>
        </p:nvSpPr>
        <p:spPr>
          <a:xfrm>
            <a:off x="1155127" y="1371713"/>
            <a:ext cx="47468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0071B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Focus on DAM-IDA1</a:t>
            </a:r>
            <a:endParaRPr lang="en-US" sz="1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E2A348E-2669-D4E7-8546-F6AFB0967407}"/>
              </a:ext>
            </a:extLst>
          </p:cNvPr>
          <p:cNvSpPr/>
          <p:nvPr/>
        </p:nvSpPr>
        <p:spPr>
          <a:xfrm>
            <a:off x="1155127" y="1696592"/>
            <a:ext cx="472879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>
                <a:solidFill>
                  <a:srgbClr val="0071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Prioritize DAM-IDA1 trading for optimal risk-adjusted returns: 81.5% accuracy with €12.0/MWh profit.</a:t>
            </a:r>
            <a:endParaRPr lang="en-US" sz="16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0CEADFF-4249-CACA-CBBE-48BD8805B1A7}"/>
              </a:ext>
            </a:extLst>
          </p:cNvPr>
          <p:cNvSpPr/>
          <p:nvPr/>
        </p:nvSpPr>
        <p:spPr>
          <a:xfrm>
            <a:off x="379026" y="2454644"/>
            <a:ext cx="5613193" cy="1119029"/>
          </a:xfrm>
          <a:custGeom>
            <a:avLst/>
            <a:gdLst/>
            <a:ahLst/>
            <a:cxnLst/>
            <a:rect l="l" t="t" r="r" b="b"/>
            <a:pathLst>
              <a:path w="5613193" h="1119029">
                <a:moveTo>
                  <a:pt x="36098" y="0"/>
                </a:moveTo>
                <a:lnTo>
                  <a:pt x="5540993" y="0"/>
                </a:lnTo>
                <a:cubicBezTo>
                  <a:pt x="5580868" y="0"/>
                  <a:pt x="5613193" y="32325"/>
                  <a:pt x="5613193" y="72200"/>
                </a:cubicBezTo>
                <a:lnTo>
                  <a:pt x="5613193" y="1046829"/>
                </a:lnTo>
                <a:cubicBezTo>
                  <a:pt x="5613193" y="1086704"/>
                  <a:pt x="5580868" y="1119029"/>
                  <a:pt x="5540993" y="1119029"/>
                </a:cubicBez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7A5E2C-F688-6DF2-FF40-5D343731856A}"/>
              </a:ext>
            </a:extLst>
          </p:cNvPr>
          <p:cNvSpPr/>
          <p:nvPr/>
        </p:nvSpPr>
        <p:spPr>
          <a:xfrm>
            <a:off x="577563" y="263513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6A950D-DED2-44F5-9118-EC42D67AA2F5}"/>
              </a:ext>
            </a:extLst>
          </p:cNvPr>
          <p:cNvSpPr/>
          <p:nvPr/>
        </p:nvSpPr>
        <p:spPr>
          <a:xfrm>
            <a:off x="532441" y="2635132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4F0EDC-653D-B291-5493-1F8F531D22CC}"/>
              </a:ext>
            </a:extLst>
          </p:cNvPr>
          <p:cNvSpPr/>
          <p:nvPr/>
        </p:nvSpPr>
        <p:spPr>
          <a:xfrm>
            <a:off x="1155127" y="2761474"/>
            <a:ext cx="47468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0071B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Avoid High-Risk Hours</a:t>
            </a:r>
            <a:endParaRPr lang="en-US"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4A9371-63BD-2FF7-E259-8AAE63B5687E}"/>
              </a:ext>
            </a:extLst>
          </p:cNvPr>
          <p:cNvSpPr/>
          <p:nvPr/>
        </p:nvSpPr>
        <p:spPr>
          <a:xfrm>
            <a:off x="1155127" y="2960012"/>
            <a:ext cx="472879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>
                <a:solidFill>
                  <a:srgbClr val="0071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 time-based filters to exclude trading during hours 6, 11-14, and 16 to avoid systematic losses.</a:t>
            </a:r>
            <a:endParaRPr lang="en-US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22448BE-D536-1FF3-943D-D2B34B6284A2}"/>
              </a:ext>
            </a:extLst>
          </p:cNvPr>
          <p:cNvSpPr/>
          <p:nvPr/>
        </p:nvSpPr>
        <p:spPr>
          <a:xfrm>
            <a:off x="379026" y="3718064"/>
            <a:ext cx="5613193" cy="1119029"/>
          </a:xfrm>
          <a:custGeom>
            <a:avLst/>
            <a:gdLst/>
            <a:ahLst/>
            <a:cxnLst/>
            <a:rect l="l" t="t" r="r" b="b"/>
            <a:pathLst>
              <a:path w="5613193" h="1119029">
                <a:moveTo>
                  <a:pt x="36098" y="0"/>
                </a:moveTo>
                <a:lnTo>
                  <a:pt x="5540993" y="0"/>
                </a:lnTo>
                <a:cubicBezTo>
                  <a:pt x="5580868" y="0"/>
                  <a:pt x="5613193" y="32325"/>
                  <a:pt x="5613193" y="72200"/>
                </a:cubicBezTo>
                <a:lnTo>
                  <a:pt x="5613193" y="1046829"/>
                </a:lnTo>
                <a:cubicBezTo>
                  <a:pt x="5613193" y="1086704"/>
                  <a:pt x="5580868" y="1119029"/>
                  <a:pt x="5540993" y="1119029"/>
                </a:cubicBez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CB8234A0-FB34-FF46-B046-129ACB736C4A}"/>
              </a:ext>
            </a:extLst>
          </p:cNvPr>
          <p:cNvSpPr/>
          <p:nvPr/>
        </p:nvSpPr>
        <p:spPr>
          <a:xfrm>
            <a:off x="577563" y="389855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0BD3E48-DAA0-84C2-D170-2A06E6C2CBD7}"/>
              </a:ext>
            </a:extLst>
          </p:cNvPr>
          <p:cNvSpPr/>
          <p:nvPr/>
        </p:nvSpPr>
        <p:spPr>
          <a:xfrm>
            <a:off x="532441" y="3898552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0995428-A699-9008-E9A0-E53E36DD34E7}"/>
              </a:ext>
            </a:extLst>
          </p:cNvPr>
          <p:cNvSpPr/>
          <p:nvPr/>
        </p:nvSpPr>
        <p:spPr>
          <a:xfrm>
            <a:off x="1155127" y="3898552"/>
            <a:ext cx="47468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0071B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Optimize Thresholds</a:t>
            </a:r>
            <a:endParaRPr lang="en-US" sz="16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B7E6754-E9C4-1687-C52F-B63AB244AC5D}"/>
              </a:ext>
            </a:extLst>
          </p:cNvPr>
          <p:cNvSpPr/>
          <p:nvPr/>
        </p:nvSpPr>
        <p:spPr>
          <a:xfrm>
            <a:off x="1155127" y="4223432"/>
            <a:ext cx="472879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>
                <a:solidFill>
                  <a:srgbClr val="0071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€50 threshold for DAM-BM trades and €1 threshold for DAM-IDA1 to maximize profit per MWh.</a:t>
            </a:r>
            <a:endParaRPr lang="en-US" sz="160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DABEFC39-CC09-DBB8-9806-D4C3A106755B}"/>
              </a:ext>
            </a:extLst>
          </p:cNvPr>
          <p:cNvSpPr/>
          <p:nvPr/>
        </p:nvSpPr>
        <p:spPr>
          <a:xfrm>
            <a:off x="6222765" y="1191224"/>
            <a:ext cx="5613193" cy="1119029"/>
          </a:xfrm>
          <a:custGeom>
            <a:avLst/>
            <a:gdLst/>
            <a:ahLst/>
            <a:cxnLst/>
            <a:rect l="l" t="t" r="r" b="b"/>
            <a:pathLst>
              <a:path w="5613193" h="1119029">
                <a:moveTo>
                  <a:pt x="36098" y="0"/>
                </a:moveTo>
                <a:lnTo>
                  <a:pt x="5540993" y="0"/>
                </a:lnTo>
                <a:cubicBezTo>
                  <a:pt x="5580868" y="0"/>
                  <a:pt x="5613193" y="32325"/>
                  <a:pt x="5613193" y="72200"/>
                </a:cubicBezTo>
                <a:lnTo>
                  <a:pt x="5613193" y="1046829"/>
                </a:lnTo>
                <a:cubicBezTo>
                  <a:pt x="5613193" y="1086704"/>
                  <a:pt x="5580868" y="1119029"/>
                  <a:pt x="5540993" y="1119029"/>
                </a:cubicBez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C63EB6A-DB36-F609-D239-DA4B0DCDE8E3}"/>
              </a:ext>
            </a:extLst>
          </p:cNvPr>
          <p:cNvSpPr/>
          <p:nvPr/>
        </p:nvSpPr>
        <p:spPr>
          <a:xfrm>
            <a:off x="6421302" y="137171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EDBD9C49-8D66-F306-A2F4-BFEC6632BAA3}"/>
              </a:ext>
            </a:extLst>
          </p:cNvPr>
          <p:cNvSpPr/>
          <p:nvPr/>
        </p:nvSpPr>
        <p:spPr>
          <a:xfrm>
            <a:off x="6376180" y="1371713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8D4C1CD-BE3C-ECB7-A06D-9727DC67E1B9}"/>
              </a:ext>
            </a:extLst>
          </p:cNvPr>
          <p:cNvSpPr/>
          <p:nvPr/>
        </p:nvSpPr>
        <p:spPr>
          <a:xfrm>
            <a:off x="6998866" y="1371713"/>
            <a:ext cx="47468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0071B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Deploy HistGradientBoosting</a:t>
            </a:r>
            <a:endParaRPr lang="en-US" sz="160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4F5EB3B4-5DC1-6177-04E1-F056250E0DC6}"/>
              </a:ext>
            </a:extLst>
          </p:cNvPr>
          <p:cNvSpPr/>
          <p:nvPr/>
        </p:nvSpPr>
        <p:spPr>
          <a:xfrm>
            <a:off x="6998866" y="1696592"/>
            <a:ext cx="472879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>
                <a:solidFill>
                  <a:srgbClr val="0071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HistGradientBoosting as the production model for optimal accuracy-profit balance.</a:t>
            </a:r>
            <a:endParaRPr lang="en-US" sz="1600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6C86C6F0-F872-154B-361F-B24CDB97B8B8}"/>
              </a:ext>
            </a:extLst>
          </p:cNvPr>
          <p:cNvSpPr/>
          <p:nvPr/>
        </p:nvSpPr>
        <p:spPr>
          <a:xfrm>
            <a:off x="6204716" y="3718064"/>
            <a:ext cx="5631242" cy="1119029"/>
          </a:xfrm>
          <a:custGeom>
            <a:avLst/>
            <a:gdLst/>
            <a:ahLst/>
            <a:cxnLst/>
            <a:rect l="l" t="t" r="r" b="b"/>
            <a:pathLst>
              <a:path w="5631242" h="1227322">
                <a:moveTo>
                  <a:pt x="72191" y="0"/>
                </a:moveTo>
                <a:lnTo>
                  <a:pt x="5559051" y="0"/>
                </a:lnTo>
                <a:cubicBezTo>
                  <a:pt x="5598894" y="0"/>
                  <a:pt x="5631242" y="32348"/>
                  <a:pt x="5631242" y="72191"/>
                </a:cubicBezTo>
                <a:lnTo>
                  <a:pt x="5631242" y="1155131"/>
                </a:lnTo>
                <a:cubicBezTo>
                  <a:pt x="5631242" y="1195001"/>
                  <a:pt x="5598921" y="1227322"/>
                  <a:pt x="5559051" y="1227322"/>
                </a:cubicBezTo>
                <a:lnTo>
                  <a:pt x="72191" y="1227322"/>
                </a:lnTo>
                <a:cubicBezTo>
                  <a:pt x="32348" y="1227322"/>
                  <a:pt x="0" y="1194974"/>
                  <a:pt x="0" y="1155131"/>
                </a:cubicBezTo>
                <a:lnTo>
                  <a:pt x="0" y="72191"/>
                </a:lnTo>
                <a:cubicBezTo>
                  <a:pt x="0" y="32321"/>
                  <a:pt x="32321" y="0"/>
                  <a:pt x="72191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5">
            <a:extLst>
              <a:ext uri="{FF2B5EF4-FFF2-40B4-BE49-F238E27FC236}">
                <a16:creationId xmlns:a16="http://schemas.microsoft.com/office/drawing/2014/main" id="{F471FDFD-2969-E947-014B-660DBED5F73A}"/>
              </a:ext>
            </a:extLst>
          </p:cNvPr>
          <p:cNvSpPr/>
          <p:nvPr/>
        </p:nvSpPr>
        <p:spPr>
          <a:xfrm>
            <a:off x="6317521" y="4259529"/>
            <a:ext cx="2716352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€12.0</a:t>
            </a:r>
            <a:endParaRPr lang="en-US" sz="1600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AC5576BC-FFE8-3459-102E-BA896E74909F}"/>
              </a:ext>
            </a:extLst>
          </p:cNvPr>
          <p:cNvSpPr/>
          <p:nvPr/>
        </p:nvSpPr>
        <p:spPr>
          <a:xfrm>
            <a:off x="6353619" y="4584409"/>
            <a:ext cx="264415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Profit/MWh</a:t>
            </a:r>
            <a:endParaRPr lang="en-US" sz="1600"/>
          </a:p>
        </p:txBody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FE91E9DC-813D-1A70-3686-E7CDC261A300}"/>
              </a:ext>
            </a:extLst>
          </p:cNvPr>
          <p:cNvSpPr/>
          <p:nvPr/>
        </p:nvSpPr>
        <p:spPr>
          <a:xfrm>
            <a:off x="9004826" y="4259529"/>
            <a:ext cx="2716352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81.5%</a:t>
            </a:r>
            <a:endParaRPr lang="en-US" sz="1600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8F780D39-8607-726B-189F-675386961E48}"/>
              </a:ext>
            </a:extLst>
          </p:cNvPr>
          <p:cNvSpPr/>
          <p:nvPr/>
        </p:nvSpPr>
        <p:spPr>
          <a:xfrm>
            <a:off x="9040924" y="4584409"/>
            <a:ext cx="264415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D39A56E5-960D-FA9F-9697-C19847BA73EA}"/>
              </a:ext>
            </a:extLst>
          </p:cNvPr>
          <p:cNvSpPr/>
          <p:nvPr/>
        </p:nvSpPr>
        <p:spPr>
          <a:xfrm>
            <a:off x="6222765" y="2454644"/>
            <a:ext cx="5613193" cy="1119029"/>
          </a:xfrm>
          <a:custGeom>
            <a:avLst/>
            <a:gdLst/>
            <a:ahLst/>
            <a:cxnLst/>
            <a:rect l="l" t="t" r="r" b="b"/>
            <a:pathLst>
              <a:path w="5613193" h="1119029">
                <a:moveTo>
                  <a:pt x="36098" y="0"/>
                </a:moveTo>
                <a:lnTo>
                  <a:pt x="5540993" y="0"/>
                </a:lnTo>
                <a:cubicBezTo>
                  <a:pt x="5580868" y="0"/>
                  <a:pt x="5613193" y="32325"/>
                  <a:pt x="5613193" y="72200"/>
                </a:cubicBezTo>
                <a:lnTo>
                  <a:pt x="5613193" y="1046829"/>
                </a:lnTo>
                <a:cubicBezTo>
                  <a:pt x="5613193" y="1086704"/>
                  <a:pt x="5580868" y="1119029"/>
                  <a:pt x="5540993" y="1119029"/>
                </a:cubicBez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F116342C-4C27-82A0-55B2-70BD11CF74E2}"/>
              </a:ext>
            </a:extLst>
          </p:cNvPr>
          <p:cNvSpPr/>
          <p:nvPr/>
        </p:nvSpPr>
        <p:spPr>
          <a:xfrm>
            <a:off x="6421302" y="263513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7EE72420-B05C-B76C-1768-E8BBD083E1FB}"/>
              </a:ext>
            </a:extLst>
          </p:cNvPr>
          <p:cNvSpPr/>
          <p:nvPr/>
        </p:nvSpPr>
        <p:spPr>
          <a:xfrm>
            <a:off x="6376180" y="2635132"/>
            <a:ext cx="52341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9EC233F2-811D-73DB-7167-2F891FC9A523}"/>
              </a:ext>
            </a:extLst>
          </p:cNvPr>
          <p:cNvSpPr/>
          <p:nvPr/>
        </p:nvSpPr>
        <p:spPr>
          <a:xfrm>
            <a:off x="6998866" y="2635132"/>
            <a:ext cx="47468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0071B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 Peak Hours</a:t>
            </a:r>
            <a:endParaRPr lang="en-US" sz="160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5808A4B-3F30-B6AE-442E-4EDD516FC70A}"/>
              </a:ext>
            </a:extLst>
          </p:cNvPr>
          <p:cNvSpPr/>
          <p:nvPr/>
        </p:nvSpPr>
        <p:spPr>
          <a:xfrm>
            <a:off x="6998866" y="2960012"/>
            <a:ext cx="472879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>
                <a:solidFill>
                  <a:srgbClr val="0071B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Concentrate trading activity during evening peak hours (19-23h) when profitability is highest.</a:t>
            </a:r>
            <a:endParaRPr lang="en-US" sz="160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26A2FEAB-1250-44D6-950A-9548DA20AD7C}"/>
              </a:ext>
            </a:extLst>
          </p:cNvPr>
          <p:cNvSpPr/>
          <p:nvPr/>
        </p:nvSpPr>
        <p:spPr>
          <a:xfrm>
            <a:off x="379026" y="1191224"/>
            <a:ext cx="36098" cy="1119029"/>
          </a:xfrm>
          <a:custGeom>
            <a:avLst/>
            <a:gdLst/>
            <a:ahLst/>
            <a:cxnLst/>
            <a:rect l="l" t="t" r="r" b="b"/>
            <a:pathLst>
              <a:path w="36098" h="1119029">
                <a:moveTo>
                  <a:pt x="36098" y="0"/>
                </a:moveTo>
                <a:lnTo>
                  <a:pt x="36098" y="0"/>
                </a:lnTo>
                <a:lnTo>
                  <a:pt x="36098" y="1119029"/>
                </a:ln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ED2336BD-4241-6FDC-CDAB-B9543B106ECF}"/>
              </a:ext>
            </a:extLst>
          </p:cNvPr>
          <p:cNvSpPr/>
          <p:nvPr/>
        </p:nvSpPr>
        <p:spPr>
          <a:xfrm>
            <a:off x="379026" y="2454644"/>
            <a:ext cx="36098" cy="1119029"/>
          </a:xfrm>
          <a:custGeom>
            <a:avLst/>
            <a:gdLst/>
            <a:ahLst/>
            <a:cxnLst/>
            <a:rect l="l" t="t" r="r" b="b"/>
            <a:pathLst>
              <a:path w="36098" h="1119029">
                <a:moveTo>
                  <a:pt x="36098" y="0"/>
                </a:moveTo>
                <a:lnTo>
                  <a:pt x="36098" y="0"/>
                </a:lnTo>
                <a:lnTo>
                  <a:pt x="36098" y="1119029"/>
                </a:ln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FD7F5AFB-E8F7-1107-D72D-B325872B5295}"/>
              </a:ext>
            </a:extLst>
          </p:cNvPr>
          <p:cNvSpPr/>
          <p:nvPr/>
        </p:nvSpPr>
        <p:spPr>
          <a:xfrm>
            <a:off x="379026" y="3718064"/>
            <a:ext cx="36098" cy="1119029"/>
          </a:xfrm>
          <a:custGeom>
            <a:avLst/>
            <a:gdLst/>
            <a:ahLst/>
            <a:cxnLst/>
            <a:rect l="l" t="t" r="r" b="b"/>
            <a:pathLst>
              <a:path w="36098" h="1119029">
                <a:moveTo>
                  <a:pt x="36098" y="0"/>
                </a:moveTo>
                <a:lnTo>
                  <a:pt x="36098" y="0"/>
                </a:lnTo>
                <a:lnTo>
                  <a:pt x="36098" y="1119029"/>
                </a:ln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8D48AE58-0C0B-AA2E-CF69-61CF0BF5232E}"/>
              </a:ext>
            </a:extLst>
          </p:cNvPr>
          <p:cNvSpPr/>
          <p:nvPr/>
        </p:nvSpPr>
        <p:spPr>
          <a:xfrm>
            <a:off x="6222765" y="1191224"/>
            <a:ext cx="36098" cy="1119029"/>
          </a:xfrm>
          <a:custGeom>
            <a:avLst/>
            <a:gdLst/>
            <a:ahLst/>
            <a:cxnLst/>
            <a:rect l="l" t="t" r="r" b="b"/>
            <a:pathLst>
              <a:path w="36098" h="1119029">
                <a:moveTo>
                  <a:pt x="36098" y="0"/>
                </a:moveTo>
                <a:lnTo>
                  <a:pt x="36098" y="0"/>
                </a:lnTo>
                <a:lnTo>
                  <a:pt x="36098" y="1119029"/>
                </a:ln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AE52CBAC-2902-6E31-2A7D-D2121AB283CF}"/>
              </a:ext>
            </a:extLst>
          </p:cNvPr>
          <p:cNvSpPr/>
          <p:nvPr/>
        </p:nvSpPr>
        <p:spPr>
          <a:xfrm>
            <a:off x="6222765" y="2454644"/>
            <a:ext cx="36098" cy="1119029"/>
          </a:xfrm>
          <a:custGeom>
            <a:avLst/>
            <a:gdLst/>
            <a:ahLst/>
            <a:cxnLst/>
            <a:rect l="l" t="t" r="r" b="b"/>
            <a:pathLst>
              <a:path w="36098" h="1119029">
                <a:moveTo>
                  <a:pt x="36098" y="0"/>
                </a:moveTo>
                <a:lnTo>
                  <a:pt x="36098" y="0"/>
                </a:lnTo>
                <a:lnTo>
                  <a:pt x="36098" y="1119029"/>
                </a:lnTo>
                <a:lnTo>
                  <a:pt x="36098" y="1119029"/>
                </a:lnTo>
                <a:cubicBezTo>
                  <a:pt x="16161" y="1119029"/>
                  <a:pt x="0" y="1102867"/>
                  <a:pt x="0" y="108293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6731A82E-74F7-8441-D4B8-542358BAC016}"/>
              </a:ext>
            </a:extLst>
          </p:cNvPr>
          <p:cNvSpPr/>
          <p:nvPr/>
        </p:nvSpPr>
        <p:spPr>
          <a:xfrm>
            <a:off x="6385205" y="3898552"/>
            <a:ext cx="536050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Expected Impact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641820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F61CCDB1-D7D9-E972-82FF-C3D909A9D980}"/>
              </a:ext>
            </a:extLst>
          </p:cNvPr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5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Appendix </a:t>
            </a:r>
            <a:endParaRPr lang="en-US" sz="16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5100C03-6C94-A02A-5DB7-30F268BB490E}"/>
              </a:ext>
            </a:extLst>
          </p:cNvPr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>
                <a:solidFill>
                  <a:srgbClr val="0020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List:</a:t>
            </a:r>
            <a:endParaRPr lang="en-US" sz="14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51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2269</Words>
  <Application>Microsoft Macintosh PowerPoint</Application>
  <PresentationFormat>Widescreen</PresentationFormat>
  <Paragraphs>377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Microsoft Sans Serif</vt:lpstr>
      <vt:lpstr>MiSans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Haleem</dc:creator>
  <cp:keywords/>
  <dc:description/>
  <cp:lastModifiedBy>Utkarsh Awasthi</cp:lastModifiedBy>
  <cp:revision>7</cp:revision>
  <dcterms:created xsi:type="dcterms:W3CDTF">2026-02-12T13:47:55Z</dcterms:created>
  <dcterms:modified xsi:type="dcterms:W3CDTF">2026-04-27T20:20:56Z</dcterms:modified>
  <cp:category/>
</cp:coreProperties>
</file>